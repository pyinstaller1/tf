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544" r:id="rId2"/>
    <p:sldId id="615" r:id="rId3"/>
    <p:sldId id="616" r:id="rId4"/>
    <p:sldId id="639" r:id="rId5"/>
    <p:sldId id="640" r:id="rId6"/>
    <p:sldId id="641" r:id="rId7"/>
    <p:sldId id="643" r:id="rId8"/>
    <p:sldId id="642" r:id="rId9"/>
    <p:sldId id="647" r:id="rId10"/>
    <p:sldId id="668" r:id="rId11"/>
    <p:sldId id="669" r:id="rId12"/>
    <p:sldId id="670" r:id="rId13"/>
    <p:sldId id="611" r:id="rId14"/>
    <p:sldId id="606" r:id="rId15"/>
    <p:sldId id="612" r:id="rId16"/>
    <p:sldId id="614" r:id="rId17"/>
    <p:sldId id="613" r:id="rId18"/>
    <p:sldId id="633" r:id="rId19"/>
    <p:sldId id="634" r:id="rId20"/>
    <p:sldId id="635" r:id="rId21"/>
    <p:sldId id="685" r:id="rId22"/>
    <p:sldId id="684" r:id="rId23"/>
    <p:sldId id="683" r:id="rId24"/>
    <p:sldId id="686" r:id="rId25"/>
    <p:sldId id="678" r:id="rId26"/>
    <p:sldId id="677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08B8"/>
    <a:srgbClr val="AC35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994" autoAdjust="0"/>
    <p:restoredTop sz="96400" autoAdjust="0"/>
  </p:normalViewPr>
  <p:slideViewPr>
    <p:cSldViewPr snapToGrid="0">
      <p:cViewPr varScale="1">
        <p:scale>
          <a:sx n="111" d="100"/>
          <a:sy n="111" d="100"/>
        </p:scale>
        <p:origin x="9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5E3BE1-06F6-411A-88A9-E3D5601FB140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EA04B2-08BC-4101-880E-BC79D98B930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95036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F2B2B-E9DF-4FE5-A24B-412AD42C0B98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99BE62-32DE-4211-85EB-0F43135205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794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F2B2B-E9DF-4FE5-A24B-412AD42C0B98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99BE62-32DE-4211-85EB-0F43135205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9723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F2B2B-E9DF-4FE5-A24B-412AD42C0B98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99BE62-32DE-4211-85EB-0F43135205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8315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F2B2B-E9DF-4FE5-A24B-412AD42C0B98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99BE62-32DE-4211-85EB-0F43135205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8597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F2B2B-E9DF-4FE5-A24B-412AD42C0B98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99BE62-32DE-4211-85EB-0F43135205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3948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F2B2B-E9DF-4FE5-A24B-412AD42C0B98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99BE62-32DE-4211-85EB-0F43135205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194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F2B2B-E9DF-4FE5-A24B-412AD42C0B98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99BE62-32DE-4211-85EB-0F43135205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20592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F2B2B-E9DF-4FE5-A24B-412AD42C0B98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99BE62-32DE-4211-85EB-0F43135205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52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F2B2B-E9DF-4FE5-A24B-412AD42C0B98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99BE62-32DE-4211-85EB-0F43135205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16207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F2B2B-E9DF-4FE5-A24B-412AD42C0B98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99BE62-32DE-4211-85EB-0F43135205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6053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F2B2B-E9DF-4FE5-A24B-412AD42C0B98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99BE62-32DE-4211-85EB-0F43135205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7135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6F2B2B-E9DF-4FE5-A24B-412AD42C0B98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99BE62-32DE-4211-85EB-0F43135205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9210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8.png"/><Relationship Id="rId10" Type="http://schemas.openxmlformats.org/officeDocument/2006/relationships/image" Target="../media/image11.png"/><Relationship Id="rId4" Type="http://schemas.openxmlformats.org/officeDocument/2006/relationships/image" Target="../media/image12.png"/><Relationship Id="rId9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2884516" y="1936864"/>
            <a:ext cx="5877099" cy="131341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5000" b="1" dirty="0" smtClean="0"/>
              <a:t>양자 컴퓨터</a:t>
            </a:r>
            <a:endParaRPr lang="ko-KR" altLang="en-US" sz="5000" b="1" dirty="0"/>
          </a:p>
        </p:txBody>
      </p:sp>
    </p:spTree>
    <p:extLst>
      <p:ext uri="{BB962C8B-B14F-4D97-AF65-F5344CB8AC3E}">
        <p14:creationId xmlns:p14="http://schemas.microsoft.com/office/powerpoint/2010/main" val="172167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/>
          <p:cNvSpPr/>
          <p:nvPr/>
        </p:nvSpPr>
        <p:spPr>
          <a:xfrm>
            <a:off x="5442436" y="1929913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3" name="직사각형 2"/>
          <p:cNvSpPr/>
          <p:nvPr/>
        </p:nvSpPr>
        <p:spPr>
          <a:xfrm>
            <a:off x="5565528" y="2154116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7499837" y="1929913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7" name="직사각형 6"/>
          <p:cNvSpPr/>
          <p:nvPr/>
        </p:nvSpPr>
        <p:spPr>
          <a:xfrm>
            <a:off x="7622929" y="2154116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왼쪽/오른쪽 화살표 3"/>
          <p:cNvSpPr/>
          <p:nvPr/>
        </p:nvSpPr>
        <p:spPr>
          <a:xfrm>
            <a:off x="6131534" y="2002448"/>
            <a:ext cx="1268289" cy="395654"/>
          </a:xfrm>
          <a:prstGeom prst="left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5709253" y="2622305"/>
            <a:ext cx="240274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같은 음전하</a:t>
            </a:r>
            <a:r>
              <a:rPr lang="en-US" altLang="ko-KR" sz="1500" dirty="0" smtClean="0"/>
              <a:t>: </a:t>
            </a:r>
            <a:r>
              <a:rPr lang="ko-KR" altLang="en-US" sz="1500" dirty="0" smtClean="0"/>
              <a:t>서로 밀어냄</a:t>
            </a:r>
            <a:endParaRPr lang="ko-KR" altLang="en-US" sz="1500" dirty="0"/>
          </a:p>
        </p:txBody>
      </p:sp>
      <p:sp>
        <p:nvSpPr>
          <p:cNvPr id="11" name="직사각형 10"/>
          <p:cNvSpPr/>
          <p:nvPr/>
        </p:nvSpPr>
        <p:spPr>
          <a:xfrm>
            <a:off x="98715" y="84447"/>
            <a:ext cx="1545447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smtClean="0"/>
              <a:t>얽힘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4511410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3025370" y="1750775"/>
            <a:ext cx="4653517" cy="429870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4393037" y="3801946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3" name="직사각형 12"/>
          <p:cNvSpPr/>
          <p:nvPr/>
        </p:nvSpPr>
        <p:spPr>
          <a:xfrm>
            <a:off x="4688311" y="4196134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 rot="5400000">
            <a:off x="4688310" y="4196134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/>
          <p:cNvSpPr/>
          <p:nvPr/>
        </p:nvSpPr>
        <p:spPr>
          <a:xfrm>
            <a:off x="8801098" y="567106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6" name="직사각형 15"/>
          <p:cNvSpPr/>
          <p:nvPr/>
        </p:nvSpPr>
        <p:spPr>
          <a:xfrm>
            <a:off x="8924190" y="791309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오른쪽 화살표 16"/>
          <p:cNvSpPr/>
          <p:nvPr/>
        </p:nvSpPr>
        <p:spPr>
          <a:xfrm rot="8467233">
            <a:off x="8073613" y="1213338"/>
            <a:ext cx="720727" cy="275904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8801098" y="1236969"/>
            <a:ext cx="302260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양전하 때문에 가까워 짐</a:t>
            </a:r>
            <a:endParaRPr lang="ko-KR" altLang="en-US" sz="1500" dirty="0"/>
          </a:p>
        </p:txBody>
      </p:sp>
      <p:sp>
        <p:nvSpPr>
          <p:cNvPr id="19" name="타원 18"/>
          <p:cNvSpPr/>
          <p:nvPr/>
        </p:nvSpPr>
        <p:spPr>
          <a:xfrm>
            <a:off x="5357256" y="3814407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0" name="타원 19"/>
          <p:cNvSpPr/>
          <p:nvPr/>
        </p:nvSpPr>
        <p:spPr>
          <a:xfrm>
            <a:off x="5354329" y="2922705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1" name="직사각형 20"/>
          <p:cNvSpPr/>
          <p:nvPr/>
        </p:nvSpPr>
        <p:spPr>
          <a:xfrm>
            <a:off x="5649603" y="331689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 rot="5400000">
            <a:off x="5649602" y="331689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/>
          <p:cNvSpPr/>
          <p:nvPr/>
        </p:nvSpPr>
        <p:spPr>
          <a:xfrm>
            <a:off x="4393037" y="2908790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4" name="타원 23"/>
          <p:cNvSpPr/>
          <p:nvPr/>
        </p:nvSpPr>
        <p:spPr>
          <a:xfrm>
            <a:off x="10005830" y="4777899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5" name="직사각형 24"/>
          <p:cNvSpPr/>
          <p:nvPr/>
        </p:nvSpPr>
        <p:spPr>
          <a:xfrm>
            <a:off x="10301104" y="5172087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 rot="5400000">
            <a:off x="10301103" y="5172087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9993186" y="5843602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30" name="타원 29"/>
          <p:cNvSpPr/>
          <p:nvPr/>
        </p:nvSpPr>
        <p:spPr>
          <a:xfrm>
            <a:off x="10171963" y="3944030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31" name="직사각형 30"/>
          <p:cNvSpPr/>
          <p:nvPr/>
        </p:nvSpPr>
        <p:spPr>
          <a:xfrm>
            <a:off x="10295055" y="416823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/>
          <p:cNvSpPr txBox="1"/>
          <p:nvPr/>
        </p:nvSpPr>
        <p:spPr>
          <a:xfrm>
            <a:off x="10884138" y="4029726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smtClean="0"/>
              <a:t>전자</a:t>
            </a:r>
            <a:endParaRPr lang="ko-KR" altLang="en-US" sz="2300" b="1" dirty="0"/>
          </a:p>
        </p:txBody>
      </p:sp>
      <p:sp>
        <p:nvSpPr>
          <p:cNvPr id="33" name="TextBox 32"/>
          <p:cNvSpPr txBox="1"/>
          <p:nvPr/>
        </p:nvSpPr>
        <p:spPr>
          <a:xfrm>
            <a:off x="10953388" y="4958807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dirty="0" smtClean="0"/>
              <a:t>양성자</a:t>
            </a:r>
            <a:endParaRPr lang="ko-KR" altLang="en-US" sz="23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0970052" y="6013218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dirty="0" smtClean="0"/>
              <a:t>중성자</a:t>
            </a:r>
            <a:endParaRPr lang="ko-KR" altLang="en-US" sz="2300" b="1" dirty="0"/>
          </a:p>
        </p:txBody>
      </p:sp>
      <p:sp>
        <p:nvSpPr>
          <p:cNvPr id="28" name="직사각형 27"/>
          <p:cNvSpPr/>
          <p:nvPr/>
        </p:nvSpPr>
        <p:spPr>
          <a:xfrm>
            <a:off x="98715" y="84447"/>
            <a:ext cx="1545447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smtClean="0"/>
              <a:t>얽힘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210158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3025370" y="1750775"/>
            <a:ext cx="4653517" cy="429870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4393037" y="3801946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3" name="직사각형 12"/>
          <p:cNvSpPr/>
          <p:nvPr/>
        </p:nvSpPr>
        <p:spPr>
          <a:xfrm>
            <a:off x="4688311" y="4196134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 rot="5400000">
            <a:off x="4688310" y="4196134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/>
          <p:cNvSpPr/>
          <p:nvPr/>
        </p:nvSpPr>
        <p:spPr>
          <a:xfrm>
            <a:off x="6690944" y="2079383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6" name="직사각형 15"/>
          <p:cNvSpPr/>
          <p:nvPr/>
        </p:nvSpPr>
        <p:spPr>
          <a:xfrm>
            <a:off x="6814036" y="2303586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/>
          <p:cNvSpPr/>
          <p:nvPr/>
        </p:nvSpPr>
        <p:spPr>
          <a:xfrm>
            <a:off x="5357256" y="3814407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0" name="타원 19"/>
          <p:cNvSpPr/>
          <p:nvPr/>
        </p:nvSpPr>
        <p:spPr>
          <a:xfrm>
            <a:off x="5354329" y="2922705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1" name="직사각형 20"/>
          <p:cNvSpPr/>
          <p:nvPr/>
        </p:nvSpPr>
        <p:spPr>
          <a:xfrm>
            <a:off x="5649603" y="331689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 rot="5400000">
            <a:off x="5649602" y="331689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/>
          <p:cNvSpPr/>
          <p:nvPr/>
        </p:nvSpPr>
        <p:spPr>
          <a:xfrm>
            <a:off x="4393037" y="2908790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4" name="타원 23"/>
          <p:cNvSpPr/>
          <p:nvPr/>
        </p:nvSpPr>
        <p:spPr>
          <a:xfrm>
            <a:off x="10005830" y="4777899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5" name="직사각형 24"/>
          <p:cNvSpPr/>
          <p:nvPr/>
        </p:nvSpPr>
        <p:spPr>
          <a:xfrm>
            <a:off x="10301104" y="5172087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 rot="5400000">
            <a:off x="10301103" y="5172087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9993186" y="5843602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30" name="타원 29"/>
          <p:cNvSpPr/>
          <p:nvPr/>
        </p:nvSpPr>
        <p:spPr>
          <a:xfrm>
            <a:off x="10171963" y="3944030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31" name="직사각형 30"/>
          <p:cNvSpPr/>
          <p:nvPr/>
        </p:nvSpPr>
        <p:spPr>
          <a:xfrm>
            <a:off x="10295055" y="416823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/>
          <p:cNvSpPr txBox="1"/>
          <p:nvPr/>
        </p:nvSpPr>
        <p:spPr>
          <a:xfrm>
            <a:off x="10884138" y="4029726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smtClean="0"/>
              <a:t>전자</a:t>
            </a:r>
            <a:endParaRPr lang="ko-KR" altLang="en-US" sz="2300" b="1" dirty="0"/>
          </a:p>
        </p:txBody>
      </p:sp>
      <p:sp>
        <p:nvSpPr>
          <p:cNvPr id="33" name="TextBox 32"/>
          <p:cNvSpPr txBox="1"/>
          <p:nvPr/>
        </p:nvSpPr>
        <p:spPr>
          <a:xfrm>
            <a:off x="10953388" y="4958807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dirty="0" smtClean="0"/>
              <a:t>양성자</a:t>
            </a:r>
            <a:endParaRPr lang="ko-KR" altLang="en-US" sz="23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0970052" y="6013218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dirty="0" smtClean="0"/>
              <a:t>중성자</a:t>
            </a:r>
            <a:endParaRPr lang="ko-KR" altLang="en-US" sz="2300" b="1" dirty="0"/>
          </a:p>
        </p:txBody>
      </p:sp>
      <p:sp>
        <p:nvSpPr>
          <p:cNvPr id="28" name="직사각형 27"/>
          <p:cNvSpPr/>
          <p:nvPr/>
        </p:nvSpPr>
        <p:spPr>
          <a:xfrm>
            <a:off x="98715" y="84447"/>
            <a:ext cx="1545447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smtClean="0"/>
              <a:t>얽힘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9651241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3025370" y="1750775"/>
            <a:ext cx="4653517" cy="429870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4393037" y="3801946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3" name="직사각형 12"/>
          <p:cNvSpPr/>
          <p:nvPr/>
        </p:nvSpPr>
        <p:spPr>
          <a:xfrm>
            <a:off x="4688311" y="4196134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 rot="5400000">
            <a:off x="4688310" y="4196134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/>
          <p:cNvSpPr/>
          <p:nvPr/>
        </p:nvSpPr>
        <p:spPr>
          <a:xfrm>
            <a:off x="6690944" y="2079383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6" name="직사각형 15"/>
          <p:cNvSpPr/>
          <p:nvPr/>
        </p:nvSpPr>
        <p:spPr>
          <a:xfrm>
            <a:off x="6814036" y="2303586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/>
          <p:cNvSpPr/>
          <p:nvPr/>
        </p:nvSpPr>
        <p:spPr>
          <a:xfrm>
            <a:off x="5357256" y="3814407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0" name="타원 19"/>
          <p:cNvSpPr/>
          <p:nvPr/>
        </p:nvSpPr>
        <p:spPr>
          <a:xfrm>
            <a:off x="5354329" y="2922705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1" name="직사각형 20"/>
          <p:cNvSpPr/>
          <p:nvPr/>
        </p:nvSpPr>
        <p:spPr>
          <a:xfrm>
            <a:off x="5649603" y="331689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 rot="5400000">
            <a:off x="5649602" y="331689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/>
          <p:cNvSpPr/>
          <p:nvPr/>
        </p:nvSpPr>
        <p:spPr>
          <a:xfrm>
            <a:off x="4393037" y="2908790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4" name="타원 23"/>
          <p:cNvSpPr/>
          <p:nvPr/>
        </p:nvSpPr>
        <p:spPr>
          <a:xfrm>
            <a:off x="10005830" y="4777899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5" name="직사각형 24"/>
          <p:cNvSpPr/>
          <p:nvPr/>
        </p:nvSpPr>
        <p:spPr>
          <a:xfrm>
            <a:off x="10301104" y="5172087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 rot="5400000">
            <a:off x="10301103" y="5172087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9993186" y="5843602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30" name="타원 29"/>
          <p:cNvSpPr/>
          <p:nvPr/>
        </p:nvSpPr>
        <p:spPr>
          <a:xfrm>
            <a:off x="10171963" y="3944030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31" name="직사각형 30"/>
          <p:cNvSpPr/>
          <p:nvPr/>
        </p:nvSpPr>
        <p:spPr>
          <a:xfrm>
            <a:off x="10295055" y="416823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/>
          <p:cNvSpPr txBox="1"/>
          <p:nvPr/>
        </p:nvSpPr>
        <p:spPr>
          <a:xfrm>
            <a:off x="10884138" y="4029726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smtClean="0"/>
              <a:t>전자</a:t>
            </a:r>
            <a:endParaRPr lang="ko-KR" altLang="en-US" sz="2300" b="1" dirty="0"/>
          </a:p>
        </p:txBody>
      </p:sp>
      <p:sp>
        <p:nvSpPr>
          <p:cNvPr id="33" name="TextBox 32"/>
          <p:cNvSpPr txBox="1"/>
          <p:nvPr/>
        </p:nvSpPr>
        <p:spPr>
          <a:xfrm>
            <a:off x="10953388" y="4958807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dirty="0" smtClean="0"/>
              <a:t>양성자</a:t>
            </a:r>
            <a:endParaRPr lang="ko-KR" altLang="en-US" sz="23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0970052" y="6013218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dirty="0" smtClean="0"/>
              <a:t>중성자</a:t>
            </a:r>
            <a:endParaRPr lang="ko-KR" altLang="en-US" sz="2300" b="1" dirty="0"/>
          </a:p>
        </p:txBody>
      </p:sp>
      <p:sp>
        <p:nvSpPr>
          <p:cNvPr id="28" name="타원 27"/>
          <p:cNvSpPr/>
          <p:nvPr/>
        </p:nvSpPr>
        <p:spPr>
          <a:xfrm>
            <a:off x="8801098" y="567106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9" name="직사각형 28"/>
          <p:cNvSpPr/>
          <p:nvPr/>
        </p:nvSpPr>
        <p:spPr>
          <a:xfrm>
            <a:off x="8924190" y="791309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오른쪽 화살표 34"/>
          <p:cNvSpPr/>
          <p:nvPr/>
        </p:nvSpPr>
        <p:spPr>
          <a:xfrm rot="8467233">
            <a:off x="8073613" y="1213338"/>
            <a:ext cx="720727" cy="275904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/>
          <p:cNvSpPr txBox="1"/>
          <p:nvPr/>
        </p:nvSpPr>
        <p:spPr>
          <a:xfrm>
            <a:off x="8801098" y="1236969"/>
            <a:ext cx="302260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양전하 때문에 가까워 짐</a:t>
            </a:r>
            <a:endParaRPr lang="ko-KR" altLang="en-US" sz="1500" dirty="0"/>
          </a:p>
        </p:txBody>
      </p:sp>
      <p:sp>
        <p:nvSpPr>
          <p:cNvPr id="37" name="직사각형 36"/>
          <p:cNvSpPr/>
          <p:nvPr/>
        </p:nvSpPr>
        <p:spPr>
          <a:xfrm>
            <a:off x="98715" y="84447"/>
            <a:ext cx="1545447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smtClean="0"/>
              <a:t>얽힘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395779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3025370" y="1750775"/>
            <a:ext cx="4653517" cy="429870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4393037" y="3801946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3" name="직사각형 12"/>
          <p:cNvSpPr/>
          <p:nvPr/>
        </p:nvSpPr>
        <p:spPr>
          <a:xfrm>
            <a:off x="4688311" y="4196134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 rot="5400000">
            <a:off x="4688310" y="4196134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/>
          <p:cNvSpPr/>
          <p:nvPr/>
        </p:nvSpPr>
        <p:spPr>
          <a:xfrm>
            <a:off x="6690944" y="2079383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6" name="직사각형 15"/>
          <p:cNvSpPr/>
          <p:nvPr/>
        </p:nvSpPr>
        <p:spPr>
          <a:xfrm>
            <a:off x="6814036" y="2303586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/>
          <p:cNvSpPr/>
          <p:nvPr/>
        </p:nvSpPr>
        <p:spPr>
          <a:xfrm>
            <a:off x="5357256" y="3814407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0" name="타원 19"/>
          <p:cNvSpPr/>
          <p:nvPr/>
        </p:nvSpPr>
        <p:spPr>
          <a:xfrm>
            <a:off x="5354329" y="2922705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1" name="직사각형 20"/>
          <p:cNvSpPr/>
          <p:nvPr/>
        </p:nvSpPr>
        <p:spPr>
          <a:xfrm>
            <a:off x="5649603" y="331689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 rot="5400000">
            <a:off x="5649602" y="331689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/>
          <p:cNvSpPr/>
          <p:nvPr/>
        </p:nvSpPr>
        <p:spPr>
          <a:xfrm>
            <a:off x="4393037" y="2908790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4" name="타원 23"/>
          <p:cNvSpPr/>
          <p:nvPr/>
        </p:nvSpPr>
        <p:spPr>
          <a:xfrm>
            <a:off x="10005830" y="4777899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5" name="직사각형 24"/>
          <p:cNvSpPr/>
          <p:nvPr/>
        </p:nvSpPr>
        <p:spPr>
          <a:xfrm>
            <a:off x="10301104" y="5172087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 rot="5400000">
            <a:off x="10301103" y="5172087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9993186" y="5843602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30" name="타원 29"/>
          <p:cNvSpPr/>
          <p:nvPr/>
        </p:nvSpPr>
        <p:spPr>
          <a:xfrm>
            <a:off x="10171963" y="3944030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31" name="직사각형 30"/>
          <p:cNvSpPr/>
          <p:nvPr/>
        </p:nvSpPr>
        <p:spPr>
          <a:xfrm>
            <a:off x="10295055" y="416823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/>
          <p:cNvSpPr txBox="1"/>
          <p:nvPr/>
        </p:nvSpPr>
        <p:spPr>
          <a:xfrm>
            <a:off x="10884138" y="4029726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smtClean="0"/>
              <a:t>전자</a:t>
            </a:r>
            <a:endParaRPr lang="ko-KR" altLang="en-US" sz="2300" b="1" dirty="0"/>
          </a:p>
        </p:txBody>
      </p:sp>
      <p:sp>
        <p:nvSpPr>
          <p:cNvPr id="33" name="TextBox 32"/>
          <p:cNvSpPr txBox="1"/>
          <p:nvPr/>
        </p:nvSpPr>
        <p:spPr>
          <a:xfrm>
            <a:off x="10953388" y="4958807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dirty="0" smtClean="0"/>
              <a:t>양성자</a:t>
            </a:r>
            <a:endParaRPr lang="ko-KR" altLang="en-US" sz="23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0970052" y="6013218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dirty="0" smtClean="0"/>
              <a:t>중성자</a:t>
            </a:r>
            <a:endParaRPr lang="ko-KR" altLang="en-US" sz="2300" b="1" dirty="0"/>
          </a:p>
        </p:txBody>
      </p:sp>
      <p:sp>
        <p:nvSpPr>
          <p:cNvPr id="28" name="타원 27"/>
          <p:cNvSpPr/>
          <p:nvPr/>
        </p:nvSpPr>
        <p:spPr>
          <a:xfrm>
            <a:off x="7678887" y="1337906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9" name="직사각형 28"/>
          <p:cNvSpPr/>
          <p:nvPr/>
        </p:nvSpPr>
        <p:spPr>
          <a:xfrm>
            <a:off x="7801979" y="1562109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/>
          <p:cNvSpPr txBox="1"/>
          <p:nvPr/>
        </p:nvSpPr>
        <p:spPr>
          <a:xfrm>
            <a:off x="7567001" y="2157741"/>
            <a:ext cx="199903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음전하 끼리 밀어냄</a:t>
            </a:r>
            <a:endParaRPr lang="ko-KR" altLang="en-US" sz="1500" dirty="0"/>
          </a:p>
        </p:txBody>
      </p:sp>
      <p:sp>
        <p:nvSpPr>
          <p:cNvPr id="2" name="왼쪽/오른쪽 화살표 1"/>
          <p:cNvSpPr/>
          <p:nvPr/>
        </p:nvSpPr>
        <p:spPr>
          <a:xfrm rot="19423852">
            <a:off x="7211307" y="1870474"/>
            <a:ext cx="597333" cy="275420"/>
          </a:xfrm>
          <a:prstGeom prst="left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/>
          <p:cNvSpPr/>
          <p:nvPr/>
        </p:nvSpPr>
        <p:spPr>
          <a:xfrm>
            <a:off x="98715" y="84447"/>
            <a:ext cx="1545447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smtClean="0"/>
              <a:t>얽힘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2949574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3025370" y="1750775"/>
            <a:ext cx="4653517" cy="429870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4393037" y="3801946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3" name="직사각형 12"/>
          <p:cNvSpPr/>
          <p:nvPr/>
        </p:nvSpPr>
        <p:spPr>
          <a:xfrm>
            <a:off x="4688311" y="4196134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 rot="5400000">
            <a:off x="4688310" y="4196134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/>
          <p:cNvSpPr/>
          <p:nvPr/>
        </p:nvSpPr>
        <p:spPr>
          <a:xfrm>
            <a:off x="6690944" y="2079383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6" name="직사각형 15"/>
          <p:cNvSpPr/>
          <p:nvPr/>
        </p:nvSpPr>
        <p:spPr>
          <a:xfrm>
            <a:off x="6814036" y="2303586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/>
          <p:cNvSpPr/>
          <p:nvPr/>
        </p:nvSpPr>
        <p:spPr>
          <a:xfrm>
            <a:off x="5357256" y="3814407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0" name="타원 19"/>
          <p:cNvSpPr/>
          <p:nvPr/>
        </p:nvSpPr>
        <p:spPr>
          <a:xfrm>
            <a:off x="5354329" y="2922705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1" name="직사각형 20"/>
          <p:cNvSpPr/>
          <p:nvPr/>
        </p:nvSpPr>
        <p:spPr>
          <a:xfrm>
            <a:off x="5649603" y="331689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 rot="5400000">
            <a:off x="5649602" y="331689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/>
          <p:cNvSpPr/>
          <p:nvPr/>
        </p:nvSpPr>
        <p:spPr>
          <a:xfrm>
            <a:off x="4393037" y="2908790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4" name="타원 23"/>
          <p:cNvSpPr/>
          <p:nvPr/>
        </p:nvSpPr>
        <p:spPr>
          <a:xfrm>
            <a:off x="10005830" y="4777899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5" name="직사각형 24"/>
          <p:cNvSpPr/>
          <p:nvPr/>
        </p:nvSpPr>
        <p:spPr>
          <a:xfrm>
            <a:off x="10301104" y="5172087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 rot="5400000">
            <a:off x="10301103" y="5172087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9993186" y="5843602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30" name="타원 29"/>
          <p:cNvSpPr/>
          <p:nvPr/>
        </p:nvSpPr>
        <p:spPr>
          <a:xfrm>
            <a:off x="10171963" y="3944030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31" name="직사각형 30"/>
          <p:cNvSpPr/>
          <p:nvPr/>
        </p:nvSpPr>
        <p:spPr>
          <a:xfrm>
            <a:off x="10295055" y="416823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/>
          <p:cNvSpPr txBox="1"/>
          <p:nvPr/>
        </p:nvSpPr>
        <p:spPr>
          <a:xfrm>
            <a:off x="10884138" y="4029726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smtClean="0"/>
              <a:t>전자</a:t>
            </a:r>
            <a:endParaRPr lang="ko-KR" altLang="en-US" sz="2300" b="1" dirty="0"/>
          </a:p>
        </p:txBody>
      </p:sp>
      <p:sp>
        <p:nvSpPr>
          <p:cNvPr id="33" name="TextBox 32"/>
          <p:cNvSpPr txBox="1"/>
          <p:nvPr/>
        </p:nvSpPr>
        <p:spPr>
          <a:xfrm>
            <a:off x="10953388" y="4958807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dirty="0" smtClean="0"/>
              <a:t>양성자</a:t>
            </a:r>
            <a:endParaRPr lang="ko-KR" altLang="en-US" sz="23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0970052" y="6013218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dirty="0" smtClean="0"/>
              <a:t>중성자</a:t>
            </a:r>
            <a:endParaRPr lang="ko-KR" altLang="en-US" sz="2300" b="1" dirty="0"/>
          </a:p>
        </p:txBody>
      </p:sp>
      <p:sp>
        <p:nvSpPr>
          <p:cNvPr id="28" name="타원 27"/>
          <p:cNvSpPr/>
          <p:nvPr/>
        </p:nvSpPr>
        <p:spPr>
          <a:xfrm>
            <a:off x="7097134" y="2576147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9" name="직사각형 28"/>
          <p:cNvSpPr/>
          <p:nvPr/>
        </p:nvSpPr>
        <p:spPr>
          <a:xfrm>
            <a:off x="7220226" y="2800350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/>
          <p:cNvSpPr txBox="1"/>
          <p:nvPr/>
        </p:nvSpPr>
        <p:spPr>
          <a:xfrm>
            <a:off x="7496662" y="2217812"/>
            <a:ext cx="59042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smtClean="0"/>
              <a:t>얽힘</a:t>
            </a:r>
            <a:endParaRPr lang="ko-KR" altLang="en-US" sz="1500" dirty="0"/>
          </a:p>
        </p:txBody>
      </p:sp>
      <p:sp>
        <p:nvSpPr>
          <p:cNvPr id="35" name="직사각형 34"/>
          <p:cNvSpPr/>
          <p:nvPr/>
        </p:nvSpPr>
        <p:spPr>
          <a:xfrm rot="3192107">
            <a:off x="7113784" y="2542828"/>
            <a:ext cx="147850" cy="1105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/>
          <p:cNvSpPr/>
          <p:nvPr/>
        </p:nvSpPr>
        <p:spPr>
          <a:xfrm>
            <a:off x="98715" y="84447"/>
            <a:ext cx="1545447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smtClean="0"/>
              <a:t>얽힘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860734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위쪽 화살표 38"/>
          <p:cNvSpPr/>
          <p:nvPr/>
        </p:nvSpPr>
        <p:spPr>
          <a:xfrm rot="10800000">
            <a:off x="7332786" y="3122713"/>
            <a:ext cx="149952" cy="139233"/>
          </a:xfrm>
          <a:prstGeom prst="up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위쪽 화살표 36"/>
          <p:cNvSpPr/>
          <p:nvPr/>
        </p:nvSpPr>
        <p:spPr>
          <a:xfrm>
            <a:off x="6906355" y="1903538"/>
            <a:ext cx="158261" cy="184639"/>
          </a:xfrm>
          <a:prstGeom prst="up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/>
          <p:cNvSpPr/>
          <p:nvPr/>
        </p:nvSpPr>
        <p:spPr>
          <a:xfrm>
            <a:off x="3025370" y="1750775"/>
            <a:ext cx="4653517" cy="429870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4393037" y="3801946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3" name="직사각형 12"/>
          <p:cNvSpPr/>
          <p:nvPr/>
        </p:nvSpPr>
        <p:spPr>
          <a:xfrm>
            <a:off x="4688311" y="4196134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 rot="5400000">
            <a:off x="4688310" y="4196134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/>
          <p:cNvSpPr/>
          <p:nvPr/>
        </p:nvSpPr>
        <p:spPr>
          <a:xfrm>
            <a:off x="6690944" y="2079383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6" name="직사각형 15"/>
          <p:cNvSpPr/>
          <p:nvPr/>
        </p:nvSpPr>
        <p:spPr>
          <a:xfrm>
            <a:off x="6814036" y="2303586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/>
          <p:cNvSpPr/>
          <p:nvPr/>
        </p:nvSpPr>
        <p:spPr>
          <a:xfrm>
            <a:off x="5357256" y="3814407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0" name="타원 19"/>
          <p:cNvSpPr/>
          <p:nvPr/>
        </p:nvSpPr>
        <p:spPr>
          <a:xfrm>
            <a:off x="5354329" y="2922705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1" name="직사각형 20"/>
          <p:cNvSpPr/>
          <p:nvPr/>
        </p:nvSpPr>
        <p:spPr>
          <a:xfrm>
            <a:off x="5649603" y="331689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 rot="5400000">
            <a:off x="5649602" y="331689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/>
          <p:cNvSpPr/>
          <p:nvPr/>
        </p:nvSpPr>
        <p:spPr>
          <a:xfrm>
            <a:off x="4393037" y="2908790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4" name="타원 23"/>
          <p:cNvSpPr/>
          <p:nvPr/>
        </p:nvSpPr>
        <p:spPr>
          <a:xfrm>
            <a:off x="10005830" y="4777899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5" name="직사각형 24"/>
          <p:cNvSpPr/>
          <p:nvPr/>
        </p:nvSpPr>
        <p:spPr>
          <a:xfrm>
            <a:off x="10301104" y="5172087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 rot="5400000">
            <a:off x="10301103" y="5172087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9993186" y="5843602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30" name="타원 29"/>
          <p:cNvSpPr/>
          <p:nvPr/>
        </p:nvSpPr>
        <p:spPr>
          <a:xfrm>
            <a:off x="10171963" y="3944030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31" name="직사각형 30"/>
          <p:cNvSpPr/>
          <p:nvPr/>
        </p:nvSpPr>
        <p:spPr>
          <a:xfrm>
            <a:off x="10295055" y="416823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/>
          <p:cNvSpPr txBox="1"/>
          <p:nvPr/>
        </p:nvSpPr>
        <p:spPr>
          <a:xfrm>
            <a:off x="10884138" y="4029726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smtClean="0"/>
              <a:t>전자</a:t>
            </a:r>
            <a:endParaRPr lang="ko-KR" altLang="en-US" sz="2300" b="1" dirty="0"/>
          </a:p>
        </p:txBody>
      </p:sp>
      <p:sp>
        <p:nvSpPr>
          <p:cNvPr id="33" name="TextBox 32"/>
          <p:cNvSpPr txBox="1"/>
          <p:nvPr/>
        </p:nvSpPr>
        <p:spPr>
          <a:xfrm>
            <a:off x="10953388" y="4958807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dirty="0" smtClean="0"/>
              <a:t>양성자</a:t>
            </a:r>
            <a:endParaRPr lang="ko-KR" altLang="en-US" sz="23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0970052" y="6013218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dirty="0" smtClean="0"/>
              <a:t>중성자</a:t>
            </a:r>
            <a:endParaRPr lang="ko-KR" altLang="en-US" sz="2300" b="1" dirty="0"/>
          </a:p>
        </p:txBody>
      </p:sp>
      <p:sp>
        <p:nvSpPr>
          <p:cNvPr id="28" name="타원 27"/>
          <p:cNvSpPr/>
          <p:nvPr/>
        </p:nvSpPr>
        <p:spPr>
          <a:xfrm>
            <a:off x="7097134" y="2576147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9" name="직사각형 28"/>
          <p:cNvSpPr/>
          <p:nvPr/>
        </p:nvSpPr>
        <p:spPr>
          <a:xfrm>
            <a:off x="7220226" y="2800350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/>
          <p:cNvSpPr txBox="1"/>
          <p:nvPr/>
        </p:nvSpPr>
        <p:spPr>
          <a:xfrm>
            <a:off x="7496662" y="2217812"/>
            <a:ext cx="59042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smtClean="0"/>
              <a:t>얽힘</a:t>
            </a:r>
            <a:endParaRPr lang="ko-KR" altLang="en-US" sz="1500" dirty="0"/>
          </a:p>
        </p:txBody>
      </p:sp>
      <p:sp>
        <p:nvSpPr>
          <p:cNvPr id="35" name="직사각형 34"/>
          <p:cNvSpPr/>
          <p:nvPr/>
        </p:nvSpPr>
        <p:spPr>
          <a:xfrm rot="3192107">
            <a:off x="7113784" y="2542828"/>
            <a:ext cx="147850" cy="1105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/>
          <p:cNvSpPr/>
          <p:nvPr/>
        </p:nvSpPr>
        <p:spPr>
          <a:xfrm>
            <a:off x="98715" y="84447"/>
            <a:ext cx="1545447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smtClean="0"/>
              <a:t>얽힘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661713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위쪽 화살표 38"/>
          <p:cNvSpPr/>
          <p:nvPr/>
        </p:nvSpPr>
        <p:spPr>
          <a:xfrm rot="10800000">
            <a:off x="7332786" y="3122713"/>
            <a:ext cx="149952" cy="139233"/>
          </a:xfrm>
          <a:prstGeom prst="up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위쪽 화살표 36"/>
          <p:cNvSpPr/>
          <p:nvPr/>
        </p:nvSpPr>
        <p:spPr>
          <a:xfrm>
            <a:off x="6906355" y="1903538"/>
            <a:ext cx="158261" cy="184639"/>
          </a:xfrm>
          <a:prstGeom prst="up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/>
          <p:cNvSpPr/>
          <p:nvPr/>
        </p:nvSpPr>
        <p:spPr>
          <a:xfrm>
            <a:off x="3025370" y="1750775"/>
            <a:ext cx="4653517" cy="429870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4393037" y="3801946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3" name="직사각형 12"/>
          <p:cNvSpPr/>
          <p:nvPr/>
        </p:nvSpPr>
        <p:spPr>
          <a:xfrm>
            <a:off x="4688311" y="4196134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 rot="5400000">
            <a:off x="4688310" y="4196134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/>
          <p:cNvSpPr/>
          <p:nvPr/>
        </p:nvSpPr>
        <p:spPr>
          <a:xfrm>
            <a:off x="6690944" y="2079383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6" name="직사각형 15"/>
          <p:cNvSpPr/>
          <p:nvPr/>
        </p:nvSpPr>
        <p:spPr>
          <a:xfrm>
            <a:off x="6814036" y="2303586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/>
          <p:cNvSpPr/>
          <p:nvPr/>
        </p:nvSpPr>
        <p:spPr>
          <a:xfrm>
            <a:off x="5357256" y="3814407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0" name="타원 19"/>
          <p:cNvSpPr/>
          <p:nvPr/>
        </p:nvSpPr>
        <p:spPr>
          <a:xfrm>
            <a:off x="5354329" y="2922705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1" name="직사각형 20"/>
          <p:cNvSpPr/>
          <p:nvPr/>
        </p:nvSpPr>
        <p:spPr>
          <a:xfrm>
            <a:off x="5649603" y="331689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 rot="5400000">
            <a:off x="5649602" y="331689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/>
          <p:cNvSpPr/>
          <p:nvPr/>
        </p:nvSpPr>
        <p:spPr>
          <a:xfrm>
            <a:off x="4393037" y="2908790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4" name="타원 23"/>
          <p:cNvSpPr/>
          <p:nvPr/>
        </p:nvSpPr>
        <p:spPr>
          <a:xfrm>
            <a:off x="10005830" y="4777899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5" name="직사각형 24"/>
          <p:cNvSpPr/>
          <p:nvPr/>
        </p:nvSpPr>
        <p:spPr>
          <a:xfrm>
            <a:off x="10301104" y="5172087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 rot="5400000">
            <a:off x="10301103" y="5172087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9993186" y="5843602"/>
            <a:ext cx="964222" cy="88069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30" name="타원 29"/>
          <p:cNvSpPr/>
          <p:nvPr/>
        </p:nvSpPr>
        <p:spPr>
          <a:xfrm>
            <a:off x="10171963" y="3944030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31" name="직사각형 30"/>
          <p:cNvSpPr/>
          <p:nvPr/>
        </p:nvSpPr>
        <p:spPr>
          <a:xfrm>
            <a:off x="10295055" y="416823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/>
          <p:cNvSpPr txBox="1"/>
          <p:nvPr/>
        </p:nvSpPr>
        <p:spPr>
          <a:xfrm>
            <a:off x="10884138" y="4029726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dirty="0" smtClean="0"/>
              <a:t>전자</a:t>
            </a:r>
            <a:endParaRPr lang="ko-KR" altLang="en-US" sz="2300" b="1" dirty="0"/>
          </a:p>
        </p:txBody>
      </p:sp>
      <p:sp>
        <p:nvSpPr>
          <p:cNvPr id="33" name="TextBox 32"/>
          <p:cNvSpPr txBox="1"/>
          <p:nvPr/>
        </p:nvSpPr>
        <p:spPr>
          <a:xfrm>
            <a:off x="10953388" y="4958807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dirty="0" smtClean="0"/>
              <a:t>양성자</a:t>
            </a:r>
            <a:endParaRPr lang="ko-KR" altLang="en-US" sz="23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0970052" y="6013218"/>
            <a:ext cx="11515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dirty="0" smtClean="0"/>
              <a:t>중성자</a:t>
            </a:r>
            <a:endParaRPr lang="ko-KR" altLang="en-US" sz="2300" b="1" dirty="0"/>
          </a:p>
        </p:txBody>
      </p:sp>
      <p:sp>
        <p:nvSpPr>
          <p:cNvPr id="28" name="타원 27"/>
          <p:cNvSpPr/>
          <p:nvPr/>
        </p:nvSpPr>
        <p:spPr>
          <a:xfrm>
            <a:off x="7097134" y="2576147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9" name="직사각형 28"/>
          <p:cNvSpPr/>
          <p:nvPr/>
        </p:nvSpPr>
        <p:spPr>
          <a:xfrm>
            <a:off x="7220226" y="2800350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/>
          <p:cNvSpPr txBox="1"/>
          <p:nvPr/>
        </p:nvSpPr>
        <p:spPr>
          <a:xfrm>
            <a:off x="7496662" y="2217812"/>
            <a:ext cx="59042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smtClean="0"/>
              <a:t>얽힘</a:t>
            </a:r>
            <a:endParaRPr lang="ko-KR" altLang="en-US" sz="1500" dirty="0"/>
          </a:p>
        </p:txBody>
      </p:sp>
      <p:sp>
        <p:nvSpPr>
          <p:cNvPr id="35" name="직사각형 34"/>
          <p:cNvSpPr/>
          <p:nvPr/>
        </p:nvSpPr>
        <p:spPr>
          <a:xfrm rot="3192107">
            <a:off x="7113784" y="2542828"/>
            <a:ext cx="147850" cy="1105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8" name="그림 3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0885" y="433668"/>
            <a:ext cx="1627730" cy="1645715"/>
          </a:xfrm>
          <a:prstGeom prst="rect">
            <a:avLst/>
          </a:prstGeom>
        </p:spPr>
      </p:pic>
      <p:sp>
        <p:nvSpPr>
          <p:cNvPr id="41" name="직사각형 40"/>
          <p:cNvSpPr/>
          <p:nvPr/>
        </p:nvSpPr>
        <p:spPr>
          <a:xfrm>
            <a:off x="98715" y="84447"/>
            <a:ext cx="1545447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smtClean="0"/>
              <a:t>얽힘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970524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98715" y="84447"/>
            <a:ext cx="1985062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smtClean="0"/>
              <a:t>얽힘 </a:t>
            </a:r>
            <a:r>
              <a:rPr lang="en-US" altLang="ko-KR" b="1" dirty="0" smtClean="0"/>
              <a:t>(</a:t>
            </a:r>
            <a:r>
              <a:rPr lang="ko-KR" altLang="en-US" b="1" dirty="0" err="1" smtClean="0"/>
              <a:t>초전도체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67213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98715" y="84447"/>
            <a:ext cx="1985062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smtClean="0"/>
              <a:t>얽힘 </a:t>
            </a:r>
            <a:r>
              <a:rPr lang="en-US" altLang="ko-KR" b="1" dirty="0" smtClean="0"/>
              <a:t>(</a:t>
            </a:r>
            <a:r>
              <a:rPr lang="ko-KR" altLang="en-US" b="1" dirty="0" err="1" smtClean="0"/>
              <a:t>초전도체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6394585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3896991" y="2080301"/>
            <a:ext cx="4306231" cy="84753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b="1" dirty="0" err="1" smtClean="0"/>
              <a:t>초전도체</a:t>
            </a:r>
            <a:r>
              <a:rPr lang="ko-KR" altLang="en-US" sz="2800" b="1" dirty="0" smtClean="0"/>
              <a:t> </a:t>
            </a:r>
            <a:r>
              <a:rPr lang="en-US" altLang="ko-KR" sz="2800" b="1" dirty="0" smtClean="0"/>
              <a:t>VS </a:t>
            </a:r>
            <a:r>
              <a:rPr lang="ko-KR" altLang="en-US" sz="2800" b="1" dirty="0" err="1" smtClean="0"/>
              <a:t>일반금속</a:t>
            </a:r>
            <a:endParaRPr lang="ko-KR" altLang="en-US" sz="2800" b="1" dirty="0"/>
          </a:p>
        </p:txBody>
      </p:sp>
      <p:sp>
        <p:nvSpPr>
          <p:cNvPr id="3" name="TextBox 2"/>
          <p:cNvSpPr txBox="1"/>
          <p:nvPr/>
        </p:nvSpPr>
        <p:spPr>
          <a:xfrm>
            <a:off x="4222308" y="3059668"/>
            <a:ext cx="136080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dirty="0" smtClean="0"/>
              <a:t>알루미늄</a:t>
            </a:r>
            <a:endParaRPr lang="ko-KR" altLang="en-US" sz="23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7082739" y="3059668"/>
            <a:ext cx="935846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smtClean="0"/>
              <a:t>구리</a:t>
            </a:r>
            <a:endParaRPr lang="ko-KR" altLang="en-US" sz="2300" b="1" dirty="0"/>
          </a:p>
        </p:txBody>
      </p:sp>
    </p:spTree>
    <p:extLst>
      <p:ext uri="{BB962C8B-B14F-4D97-AF65-F5344CB8AC3E}">
        <p14:creationId xmlns:p14="http://schemas.microsoft.com/office/powerpoint/2010/main" val="957585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/>
          <p:cNvSpPr/>
          <p:nvPr/>
        </p:nvSpPr>
        <p:spPr>
          <a:xfrm>
            <a:off x="6532682" y="4541229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3" name="직사각형 2"/>
          <p:cNvSpPr/>
          <p:nvPr/>
        </p:nvSpPr>
        <p:spPr>
          <a:xfrm>
            <a:off x="6655774" y="4765432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8590083" y="4541229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7" name="직사각형 6"/>
          <p:cNvSpPr/>
          <p:nvPr/>
        </p:nvSpPr>
        <p:spPr>
          <a:xfrm>
            <a:off x="8713175" y="4765432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8442565" y="5465492"/>
            <a:ext cx="281158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같은 음전하</a:t>
            </a:r>
            <a:r>
              <a:rPr lang="en-US" altLang="ko-KR" sz="1500" dirty="0" smtClean="0"/>
              <a:t>: </a:t>
            </a:r>
            <a:r>
              <a:rPr lang="ko-KR" altLang="en-US" sz="1500" dirty="0" smtClean="0"/>
              <a:t>멀어지고 싶음</a:t>
            </a:r>
            <a:endParaRPr lang="ko-KR" altLang="en-US" sz="1500" dirty="0"/>
          </a:p>
        </p:txBody>
      </p:sp>
      <p:sp>
        <p:nvSpPr>
          <p:cNvPr id="5" name="오른쪽 화살표 4"/>
          <p:cNvSpPr/>
          <p:nvPr/>
        </p:nvSpPr>
        <p:spPr>
          <a:xfrm>
            <a:off x="8590083" y="5081953"/>
            <a:ext cx="720727" cy="275904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98715" y="84447"/>
            <a:ext cx="2415885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err="1" smtClean="0"/>
              <a:t>초전도체</a:t>
            </a:r>
            <a:r>
              <a:rPr lang="ko-KR" altLang="en-US" b="1" dirty="0" smtClean="0"/>
              <a:t> 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알루미늄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574" y="2224455"/>
            <a:ext cx="1568166" cy="1565030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056" y="582856"/>
            <a:ext cx="1823305" cy="1462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5714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타원 7"/>
          <p:cNvSpPr/>
          <p:nvPr/>
        </p:nvSpPr>
        <p:spPr>
          <a:xfrm>
            <a:off x="6866054" y="3631226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9" name="직사각형 8"/>
          <p:cNvSpPr/>
          <p:nvPr/>
        </p:nvSpPr>
        <p:spPr>
          <a:xfrm>
            <a:off x="7161328" y="4025414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 rot="5400000">
            <a:off x="7161327" y="4025414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/>
          <p:cNvSpPr/>
          <p:nvPr/>
        </p:nvSpPr>
        <p:spPr>
          <a:xfrm>
            <a:off x="5729468" y="3660534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4" name="직사각형 13"/>
          <p:cNvSpPr/>
          <p:nvPr/>
        </p:nvSpPr>
        <p:spPr>
          <a:xfrm>
            <a:off x="6024742" y="4054722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 rot="5400000">
            <a:off x="6024741" y="4054722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5729468" y="5086351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7" name="직사각형 16"/>
          <p:cNvSpPr/>
          <p:nvPr/>
        </p:nvSpPr>
        <p:spPr>
          <a:xfrm>
            <a:off x="6024742" y="5480539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 rot="5400000">
            <a:off x="6024741" y="5480539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/>
          <p:cNvSpPr/>
          <p:nvPr/>
        </p:nvSpPr>
        <p:spPr>
          <a:xfrm>
            <a:off x="6819896" y="5086351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0" name="직사각형 19"/>
          <p:cNvSpPr/>
          <p:nvPr/>
        </p:nvSpPr>
        <p:spPr>
          <a:xfrm>
            <a:off x="7115170" y="5480539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 rot="5400000">
            <a:off x="7115169" y="5480539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/>
          <p:cNvSpPr/>
          <p:nvPr/>
        </p:nvSpPr>
        <p:spPr>
          <a:xfrm>
            <a:off x="6532682" y="4541229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3" name="직사각형 22"/>
          <p:cNvSpPr/>
          <p:nvPr/>
        </p:nvSpPr>
        <p:spPr>
          <a:xfrm>
            <a:off x="6655774" y="4765432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8590083" y="4541229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5" name="직사각형 24"/>
          <p:cNvSpPr/>
          <p:nvPr/>
        </p:nvSpPr>
        <p:spPr>
          <a:xfrm>
            <a:off x="8713175" y="4765432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오른쪽 화살표 25"/>
          <p:cNvSpPr/>
          <p:nvPr/>
        </p:nvSpPr>
        <p:spPr>
          <a:xfrm rot="10800000">
            <a:off x="8590083" y="5081953"/>
            <a:ext cx="720727" cy="275904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8442566" y="5465492"/>
            <a:ext cx="302260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양전하 때문에 전자와 </a:t>
            </a:r>
            <a:r>
              <a:rPr lang="ko-KR" altLang="en-US" sz="1500" dirty="0" err="1" smtClean="0"/>
              <a:t>가까워짐</a:t>
            </a:r>
            <a:endParaRPr lang="ko-KR" altLang="en-US" sz="1500" dirty="0"/>
          </a:p>
        </p:txBody>
      </p:sp>
      <p:sp>
        <p:nvSpPr>
          <p:cNvPr id="28" name="직사각형 27"/>
          <p:cNvSpPr/>
          <p:nvPr/>
        </p:nvSpPr>
        <p:spPr>
          <a:xfrm>
            <a:off x="98715" y="84447"/>
            <a:ext cx="2415885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err="1" smtClean="0"/>
              <a:t>초전도체</a:t>
            </a:r>
            <a:r>
              <a:rPr lang="ko-KR" altLang="en-US" b="1" dirty="0" smtClean="0"/>
              <a:t> 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알루미늄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pic>
        <p:nvPicPr>
          <p:cNvPr id="29" name="그림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574" y="2224455"/>
            <a:ext cx="1568166" cy="1565030"/>
          </a:xfrm>
          <a:prstGeom prst="rect">
            <a:avLst/>
          </a:prstGeom>
        </p:spPr>
      </p:pic>
      <p:pic>
        <p:nvPicPr>
          <p:cNvPr id="31" name="그림 3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056" y="582856"/>
            <a:ext cx="1823305" cy="1462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005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타원 7"/>
          <p:cNvSpPr/>
          <p:nvPr/>
        </p:nvSpPr>
        <p:spPr>
          <a:xfrm>
            <a:off x="6866054" y="3631226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9" name="직사각형 8"/>
          <p:cNvSpPr/>
          <p:nvPr/>
        </p:nvSpPr>
        <p:spPr>
          <a:xfrm>
            <a:off x="7161328" y="4025414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 rot="5400000">
            <a:off x="7161327" y="4025414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/>
          <p:cNvSpPr/>
          <p:nvPr/>
        </p:nvSpPr>
        <p:spPr>
          <a:xfrm>
            <a:off x="5729468" y="3660534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4" name="직사각형 13"/>
          <p:cNvSpPr/>
          <p:nvPr/>
        </p:nvSpPr>
        <p:spPr>
          <a:xfrm>
            <a:off x="6024742" y="4054722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 rot="5400000">
            <a:off x="6024741" y="4054722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5729468" y="5086351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7" name="직사각형 16"/>
          <p:cNvSpPr/>
          <p:nvPr/>
        </p:nvSpPr>
        <p:spPr>
          <a:xfrm>
            <a:off x="6024742" y="5480539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 rot="5400000">
            <a:off x="6024741" y="5480539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/>
          <p:cNvSpPr/>
          <p:nvPr/>
        </p:nvSpPr>
        <p:spPr>
          <a:xfrm>
            <a:off x="6819896" y="5086351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0" name="직사각형 19"/>
          <p:cNvSpPr/>
          <p:nvPr/>
        </p:nvSpPr>
        <p:spPr>
          <a:xfrm>
            <a:off x="7115170" y="5480539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 rot="5400000">
            <a:off x="7115169" y="5480539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/>
          <p:cNvSpPr/>
          <p:nvPr/>
        </p:nvSpPr>
        <p:spPr>
          <a:xfrm>
            <a:off x="6532682" y="4541229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3" name="직사각형 22"/>
          <p:cNvSpPr/>
          <p:nvPr/>
        </p:nvSpPr>
        <p:spPr>
          <a:xfrm>
            <a:off x="6655774" y="4765432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7218480" y="4541229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5" name="직사각형 24"/>
          <p:cNvSpPr/>
          <p:nvPr/>
        </p:nvSpPr>
        <p:spPr>
          <a:xfrm>
            <a:off x="7341572" y="4765432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7784118" y="4991787"/>
            <a:ext cx="71901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smtClean="0"/>
              <a:t>얽힘</a:t>
            </a:r>
            <a:endParaRPr lang="ko-KR" altLang="en-US" sz="1500" dirty="0"/>
          </a:p>
        </p:txBody>
      </p:sp>
      <p:sp>
        <p:nvSpPr>
          <p:cNvPr id="29" name="직사각형 28"/>
          <p:cNvSpPr/>
          <p:nvPr/>
        </p:nvSpPr>
        <p:spPr>
          <a:xfrm>
            <a:off x="98715" y="84447"/>
            <a:ext cx="2415885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err="1" smtClean="0"/>
              <a:t>초전도체</a:t>
            </a:r>
            <a:r>
              <a:rPr lang="ko-KR" altLang="en-US" b="1" dirty="0" smtClean="0"/>
              <a:t> 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알루미늄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574" y="2224455"/>
            <a:ext cx="1568166" cy="1565030"/>
          </a:xfrm>
          <a:prstGeom prst="rect">
            <a:avLst/>
          </a:prstGeom>
        </p:spPr>
      </p:pic>
      <p:pic>
        <p:nvPicPr>
          <p:cNvPr id="31" name="그림 3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056" y="582856"/>
            <a:ext cx="1823305" cy="1462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18722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타원 21"/>
          <p:cNvSpPr/>
          <p:nvPr/>
        </p:nvSpPr>
        <p:spPr>
          <a:xfrm>
            <a:off x="6532682" y="4541229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3" name="직사각형 22"/>
          <p:cNvSpPr/>
          <p:nvPr/>
        </p:nvSpPr>
        <p:spPr>
          <a:xfrm>
            <a:off x="6655774" y="4765432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7218480" y="4541229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5" name="직사각형 24"/>
          <p:cNvSpPr/>
          <p:nvPr/>
        </p:nvSpPr>
        <p:spPr>
          <a:xfrm>
            <a:off x="7341572" y="4765432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7784118" y="4991787"/>
            <a:ext cx="71901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smtClean="0"/>
              <a:t>얽힘</a:t>
            </a:r>
            <a:endParaRPr lang="ko-KR" altLang="en-US" sz="1500" dirty="0"/>
          </a:p>
        </p:txBody>
      </p:sp>
      <p:sp>
        <p:nvSpPr>
          <p:cNvPr id="26" name="직사각형 25"/>
          <p:cNvSpPr/>
          <p:nvPr/>
        </p:nvSpPr>
        <p:spPr>
          <a:xfrm>
            <a:off x="7090992" y="4785219"/>
            <a:ext cx="189033" cy="6589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98715" y="84447"/>
            <a:ext cx="2415885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err="1" smtClean="0"/>
              <a:t>초전도체</a:t>
            </a:r>
            <a:r>
              <a:rPr lang="ko-KR" altLang="en-US" b="1" dirty="0" smtClean="0"/>
              <a:t> 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알루미늄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574" y="2224455"/>
            <a:ext cx="1568166" cy="1565030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056" y="582856"/>
            <a:ext cx="1823305" cy="1462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6620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위쪽 화살표 28"/>
          <p:cNvSpPr/>
          <p:nvPr/>
        </p:nvSpPr>
        <p:spPr>
          <a:xfrm rot="10800000">
            <a:off x="7438293" y="5092189"/>
            <a:ext cx="149952" cy="139233"/>
          </a:xfrm>
          <a:prstGeom prst="up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위쪽 화살표 1"/>
          <p:cNvSpPr/>
          <p:nvPr/>
        </p:nvSpPr>
        <p:spPr>
          <a:xfrm>
            <a:off x="6748093" y="4376372"/>
            <a:ext cx="158261" cy="184639"/>
          </a:xfrm>
          <a:prstGeom prst="up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/>
          <p:cNvSpPr/>
          <p:nvPr/>
        </p:nvSpPr>
        <p:spPr>
          <a:xfrm>
            <a:off x="6532682" y="4541229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3" name="직사각형 22"/>
          <p:cNvSpPr/>
          <p:nvPr/>
        </p:nvSpPr>
        <p:spPr>
          <a:xfrm>
            <a:off x="6655774" y="4765432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7218480" y="4541229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5" name="직사각형 24"/>
          <p:cNvSpPr/>
          <p:nvPr/>
        </p:nvSpPr>
        <p:spPr>
          <a:xfrm>
            <a:off x="7341572" y="4765432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7784118" y="4991787"/>
            <a:ext cx="71901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얽힘</a:t>
            </a:r>
            <a:endParaRPr lang="ko-KR" altLang="en-US" sz="1500" dirty="0"/>
          </a:p>
        </p:txBody>
      </p:sp>
      <p:sp>
        <p:nvSpPr>
          <p:cNvPr id="26" name="직사각형 25"/>
          <p:cNvSpPr/>
          <p:nvPr/>
        </p:nvSpPr>
        <p:spPr>
          <a:xfrm>
            <a:off x="7090992" y="4785219"/>
            <a:ext cx="189033" cy="6589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98715" y="84447"/>
            <a:ext cx="2415885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err="1" smtClean="0"/>
              <a:t>초전도체</a:t>
            </a:r>
            <a:r>
              <a:rPr lang="ko-KR" altLang="en-US" b="1" dirty="0" smtClean="0"/>
              <a:t> 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알루미늄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574" y="2224455"/>
            <a:ext cx="1568166" cy="1565030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056" y="582856"/>
            <a:ext cx="1823305" cy="1462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638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타원 7"/>
          <p:cNvSpPr/>
          <p:nvPr/>
        </p:nvSpPr>
        <p:spPr>
          <a:xfrm>
            <a:off x="9531590" y="2334362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9" name="직사각형 8"/>
          <p:cNvSpPr/>
          <p:nvPr/>
        </p:nvSpPr>
        <p:spPr>
          <a:xfrm>
            <a:off x="9826864" y="2728550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 rot="5400000">
            <a:off x="9826863" y="2728550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/>
          <p:cNvSpPr/>
          <p:nvPr/>
        </p:nvSpPr>
        <p:spPr>
          <a:xfrm>
            <a:off x="3672067" y="2334362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4" name="직사각형 13"/>
          <p:cNvSpPr/>
          <p:nvPr/>
        </p:nvSpPr>
        <p:spPr>
          <a:xfrm>
            <a:off x="3967341" y="2728550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 rot="5400000">
            <a:off x="3967340" y="2728550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3625906" y="5931145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7" name="직사각형 16"/>
          <p:cNvSpPr/>
          <p:nvPr/>
        </p:nvSpPr>
        <p:spPr>
          <a:xfrm>
            <a:off x="3921180" y="632533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 rot="5400000">
            <a:off x="3921179" y="632533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/>
          <p:cNvSpPr/>
          <p:nvPr/>
        </p:nvSpPr>
        <p:spPr>
          <a:xfrm>
            <a:off x="9886207" y="5909898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0" name="직사각형 19"/>
          <p:cNvSpPr/>
          <p:nvPr/>
        </p:nvSpPr>
        <p:spPr>
          <a:xfrm>
            <a:off x="10181481" y="6304086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 rot="5400000">
            <a:off x="10181480" y="6304086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7750175" y="3431938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/>
          <p:cNvSpPr/>
          <p:nvPr/>
        </p:nvSpPr>
        <p:spPr>
          <a:xfrm>
            <a:off x="6532682" y="4541229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38" name="직사각형 37"/>
          <p:cNvSpPr/>
          <p:nvPr/>
        </p:nvSpPr>
        <p:spPr>
          <a:xfrm>
            <a:off x="6655774" y="4765432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/>
          <p:cNvSpPr/>
          <p:nvPr/>
        </p:nvSpPr>
        <p:spPr>
          <a:xfrm>
            <a:off x="8590083" y="4541229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40" name="직사각형 39"/>
          <p:cNvSpPr/>
          <p:nvPr/>
        </p:nvSpPr>
        <p:spPr>
          <a:xfrm>
            <a:off x="8713175" y="4765432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98715" y="84447"/>
            <a:ext cx="2064193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err="1" smtClean="0"/>
              <a:t>일반금속</a:t>
            </a:r>
            <a:r>
              <a:rPr lang="ko-KR" altLang="en-US" b="1" dirty="0" smtClean="0"/>
              <a:t> 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구리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636" y="2820868"/>
            <a:ext cx="1835272" cy="184724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729" y="595480"/>
            <a:ext cx="2064951" cy="1855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177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타원 7"/>
          <p:cNvSpPr/>
          <p:nvPr/>
        </p:nvSpPr>
        <p:spPr>
          <a:xfrm>
            <a:off x="9531590" y="2334362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9" name="직사각형 8"/>
          <p:cNvSpPr/>
          <p:nvPr/>
        </p:nvSpPr>
        <p:spPr>
          <a:xfrm>
            <a:off x="9826864" y="2728550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 rot="5400000">
            <a:off x="9826863" y="2728550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/>
          <p:cNvSpPr/>
          <p:nvPr/>
        </p:nvSpPr>
        <p:spPr>
          <a:xfrm>
            <a:off x="3672067" y="2334362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4" name="직사각형 13"/>
          <p:cNvSpPr/>
          <p:nvPr/>
        </p:nvSpPr>
        <p:spPr>
          <a:xfrm>
            <a:off x="3967341" y="2728550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 rot="5400000">
            <a:off x="3967340" y="2728550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3625906" y="5931145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7" name="직사각형 16"/>
          <p:cNvSpPr/>
          <p:nvPr/>
        </p:nvSpPr>
        <p:spPr>
          <a:xfrm>
            <a:off x="3921180" y="632533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 rot="5400000">
            <a:off x="3921179" y="632533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/>
          <p:cNvSpPr/>
          <p:nvPr/>
        </p:nvSpPr>
        <p:spPr>
          <a:xfrm>
            <a:off x="9886207" y="5909898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0" name="직사각형 19"/>
          <p:cNvSpPr/>
          <p:nvPr/>
        </p:nvSpPr>
        <p:spPr>
          <a:xfrm>
            <a:off x="10181481" y="6304086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 rot="5400000">
            <a:off x="10181480" y="6304086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7750175" y="3431938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/>
          <p:cNvSpPr/>
          <p:nvPr/>
        </p:nvSpPr>
        <p:spPr>
          <a:xfrm>
            <a:off x="6532682" y="4541229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38" name="직사각형 37"/>
          <p:cNvSpPr/>
          <p:nvPr/>
        </p:nvSpPr>
        <p:spPr>
          <a:xfrm>
            <a:off x="6655774" y="4765432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/>
          <p:cNvSpPr/>
          <p:nvPr/>
        </p:nvSpPr>
        <p:spPr>
          <a:xfrm>
            <a:off x="9838590" y="4541229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4" name="직사각형 23"/>
          <p:cNvSpPr/>
          <p:nvPr/>
        </p:nvSpPr>
        <p:spPr>
          <a:xfrm>
            <a:off x="9961682" y="4765432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/>
          <p:cNvSpPr txBox="1"/>
          <p:nvPr/>
        </p:nvSpPr>
        <p:spPr>
          <a:xfrm>
            <a:off x="9436094" y="5393369"/>
            <a:ext cx="25360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같은 음전하</a:t>
            </a:r>
            <a:r>
              <a:rPr lang="en-US" altLang="ko-KR" sz="1500" dirty="0" smtClean="0"/>
              <a:t>: </a:t>
            </a:r>
            <a:r>
              <a:rPr lang="ko-KR" altLang="en-US" sz="1500" dirty="0" smtClean="0"/>
              <a:t>멀어지고 싶음</a:t>
            </a:r>
            <a:endParaRPr lang="ko-KR" altLang="en-US" sz="1500" dirty="0"/>
          </a:p>
        </p:txBody>
      </p:sp>
      <p:sp>
        <p:nvSpPr>
          <p:cNvPr id="26" name="오른쪽 화살표 25"/>
          <p:cNvSpPr/>
          <p:nvPr/>
        </p:nvSpPr>
        <p:spPr>
          <a:xfrm>
            <a:off x="9838590" y="5081953"/>
            <a:ext cx="720727" cy="275904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/>
          <p:cNvSpPr/>
          <p:nvPr/>
        </p:nvSpPr>
        <p:spPr>
          <a:xfrm>
            <a:off x="98715" y="84447"/>
            <a:ext cx="2064193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err="1" smtClean="0"/>
              <a:t>일반금속</a:t>
            </a:r>
            <a:r>
              <a:rPr lang="ko-KR" altLang="en-US" b="1" dirty="0" smtClean="0"/>
              <a:t> 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구리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636" y="2820868"/>
            <a:ext cx="1835272" cy="1847241"/>
          </a:xfrm>
          <a:prstGeom prst="rect">
            <a:avLst/>
          </a:prstGeom>
        </p:spPr>
      </p:pic>
      <p:pic>
        <p:nvPicPr>
          <p:cNvPr id="29" name="그림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729" y="595480"/>
            <a:ext cx="2064951" cy="1855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0049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타원 7"/>
          <p:cNvSpPr/>
          <p:nvPr/>
        </p:nvSpPr>
        <p:spPr>
          <a:xfrm>
            <a:off x="9531590" y="2334362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9" name="직사각형 8"/>
          <p:cNvSpPr/>
          <p:nvPr/>
        </p:nvSpPr>
        <p:spPr>
          <a:xfrm>
            <a:off x="9826864" y="2728550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 rot="5400000">
            <a:off x="9826863" y="2728550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/>
          <p:cNvSpPr/>
          <p:nvPr/>
        </p:nvSpPr>
        <p:spPr>
          <a:xfrm>
            <a:off x="3672067" y="2334362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4" name="직사각형 13"/>
          <p:cNvSpPr/>
          <p:nvPr/>
        </p:nvSpPr>
        <p:spPr>
          <a:xfrm>
            <a:off x="3967341" y="2728550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 rot="5400000">
            <a:off x="3967340" y="2728550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3625906" y="5931145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17" name="직사각형 16"/>
          <p:cNvSpPr/>
          <p:nvPr/>
        </p:nvSpPr>
        <p:spPr>
          <a:xfrm>
            <a:off x="3921180" y="632533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 rot="5400000">
            <a:off x="3921179" y="6325333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/>
          <p:cNvSpPr/>
          <p:nvPr/>
        </p:nvSpPr>
        <p:spPr>
          <a:xfrm>
            <a:off x="9886207" y="5909898"/>
            <a:ext cx="964222" cy="880695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0" name="직사각형 19"/>
          <p:cNvSpPr/>
          <p:nvPr/>
        </p:nvSpPr>
        <p:spPr>
          <a:xfrm>
            <a:off x="10181481" y="6304086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 rot="5400000">
            <a:off x="10181480" y="6304086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7750175" y="3431938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/>
          <p:cNvSpPr/>
          <p:nvPr/>
        </p:nvSpPr>
        <p:spPr>
          <a:xfrm>
            <a:off x="6532682" y="4541229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38" name="직사각형 37"/>
          <p:cNvSpPr/>
          <p:nvPr/>
        </p:nvSpPr>
        <p:spPr>
          <a:xfrm>
            <a:off x="6655774" y="4765432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/>
          <p:cNvSpPr/>
          <p:nvPr/>
        </p:nvSpPr>
        <p:spPr>
          <a:xfrm>
            <a:off x="9838590" y="4541229"/>
            <a:ext cx="589084" cy="54512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800" dirty="0"/>
          </a:p>
        </p:txBody>
      </p:sp>
      <p:sp>
        <p:nvSpPr>
          <p:cNvPr id="24" name="직사각형 23"/>
          <p:cNvSpPr/>
          <p:nvPr/>
        </p:nvSpPr>
        <p:spPr>
          <a:xfrm>
            <a:off x="9961682" y="4765432"/>
            <a:ext cx="373673" cy="92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/>
          <p:cNvSpPr txBox="1"/>
          <p:nvPr/>
        </p:nvSpPr>
        <p:spPr>
          <a:xfrm>
            <a:off x="9436094" y="5393369"/>
            <a:ext cx="25360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같은 음전하</a:t>
            </a:r>
            <a:r>
              <a:rPr lang="en-US" altLang="ko-KR" sz="1500" dirty="0" smtClean="0"/>
              <a:t>: </a:t>
            </a:r>
            <a:r>
              <a:rPr lang="ko-KR" altLang="en-US" sz="1500" dirty="0" smtClean="0"/>
              <a:t>멀어지고 싶음</a:t>
            </a:r>
            <a:endParaRPr lang="ko-KR" altLang="en-US" sz="1500" dirty="0"/>
          </a:p>
        </p:txBody>
      </p:sp>
      <p:sp>
        <p:nvSpPr>
          <p:cNvPr id="26" name="오른쪽 화살표 25"/>
          <p:cNvSpPr/>
          <p:nvPr/>
        </p:nvSpPr>
        <p:spPr>
          <a:xfrm>
            <a:off x="9838590" y="5081953"/>
            <a:ext cx="720727" cy="275904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4154175" y="4025679"/>
            <a:ext cx="5030424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2300" b="1" dirty="0" smtClean="0"/>
              <a:t>쿠퍼 전자쌍이 안됨 </a:t>
            </a:r>
            <a:r>
              <a:rPr lang="en-US" altLang="ko-KR" sz="2300" b="1" dirty="0" smtClean="0"/>
              <a:t>=&gt; </a:t>
            </a:r>
            <a:r>
              <a:rPr lang="ko-KR" altLang="en-US" sz="2300" b="1" dirty="0" smtClean="0"/>
              <a:t>큰 흐름 없음</a:t>
            </a:r>
            <a:endParaRPr lang="ko-KR" altLang="en-US" sz="2300" b="1" dirty="0"/>
          </a:p>
        </p:txBody>
      </p:sp>
      <p:sp>
        <p:nvSpPr>
          <p:cNvPr id="28" name="직사각형 27"/>
          <p:cNvSpPr/>
          <p:nvPr/>
        </p:nvSpPr>
        <p:spPr>
          <a:xfrm>
            <a:off x="98715" y="84447"/>
            <a:ext cx="2064193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err="1" smtClean="0"/>
              <a:t>일반금속</a:t>
            </a:r>
            <a:r>
              <a:rPr lang="ko-KR" altLang="en-US" b="1" dirty="0" smtClean="0"/>
              <a:t> 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구리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pic>
        <p:nvPicPr>
          <p:cNvPr id="29" name="그림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636" y="2820868"/>
            <a:ext cx="1835272" cy="1847241"/>
          </a:xfrm>
          <a:prstGeom prst="rect">
            <a:avLst/>
          </a:prstGeom>
        </p:spPr>
      </p:pic>
      <p:pic>
        <p:nvPicPr>
          <p:cNvPr id="31" name="그림 3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729" y="595480"/>
            <a:ext cx="2064951" cy="1855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1950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/>
          <p:cNvSpPr/>
          <p:nvPr/>
        </p:nvSpPr>
        <p:spPr>
          <a:xfrm>
            <a:off x="98715" y="84447"/>
            <a:ext cx="2064193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err="1" smtClean="0"/>
              <a:t>일반금속</a:t>
            </a:r>
            <a:r>
              <a:rPr lang="ko-KR" altLang="en-US" b="1" dirty="0" smtClean="0"/>
              <a:t> 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구리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pic>
        <p:nvPicPr>
          <p:cNvPr id="31" name="그림 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729" y="595480"/>
            <a:ext cx="2064951" cy="1855726"/>
          </a:xfrm>
          <a:prstGeom prst="rect">
            <a:avLst/>
          </a:prstGeom>
        </p:spPr>
      </p:pic>
      <p:sp>
        <p:nvSpPr>
          <p:cNvPr id="30" name="직사각형 29"/>
          <p:cNvSpPr/>
          <p:nvPr/>
        </p:nvSpPr>
        <p:spPr>
          <a:xfrm>
            <a:off x="141323" y="3618955"/>
            <a:ext cx="2415885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err="1" smtClean="0"/>
              <a:t>초전도체</a:t>
            </a:r>
            <a:r>
              <a:rPr lang="ko-KR" altLang="en-US" b="1" dirty="0" smtClean="0"/>
              <a:t> 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알루미늄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729" y="4129988"/>
            <a:ext cx="1823305" cy="146240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375452" y="2931462"/>
            <a:ext cx="1753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altLang="ko-KR" b="1" dirty="0" smtClean="0"/>
              <a:t>-273</a:t>
            </a:r>
            <a:r>
              <a:rPr lang="ko-KR" altLang="en-US" b="1" dirty="0" smtClean="0"/>
              <a:t>도 극저온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662667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/>
          <p:cNvSpPr/>
          <p:nvPr/>
        </p:nvSpPr>
        <p:spPr>
          <a:xfrm>
            <a:off x="98715" y="84447"/>
            <a:ext cx="2064193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err="1" smtClean="0"/>
              <a:t>일반금속</a:t>
            </a:r>
            <a:r>
              <a:rPr lang="ko-KR" altLang="en-US" b="1" dirty="0" smtClean="0"/>
              <a:t> 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구리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pic>
        <p:nvPicPr>
          <p:cNvPr id="31" name="그림 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729" y="595480"/>
            <a:ext cx="2064951" cy="1855726"/>
          </a:xfrm>
          <a:prstGeom prst="rect">
            <a:avLst/>
          </a:prstGeom>
        </p:spPr>
      </p:pic>
      <p:sp>
        <p:nvSpPr>
          <p:cNvPr id="30" name="직사각형 29"/>
          <p:cNvSpPr/>
          <p:nvPr/>
        </p:nvSpPr>
        <p:spPr>
          <a:xfrm>
            <a:off x="141323" y="3618955"/>
            <a:ext cx="2415885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err="1" smtClean="0"/>
              <a:t>초전도체</a:t>
            </a:r>
            <a:r>
              <a:rPr lang="ko-KR" altLang="en-US" b="1" dirty="0" smtClean="0"/>
              <a:t> 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알루미늄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729" y="4129988"/>
            <a:ext cx="1823305" cy="146240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894612" y="3618955"/>
            <a:ext cx="162462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원자핵 모임</a:t>
            </a:r>
            <a:endParaRPr lang="ko-KR" altLang="en-US" sz="1500" dirty="0"/>
          </a:p>
        </p:txBody>
      </p:sp>
      <p:sp>
        <p:nvSpPr>
          <p:cNvPr id="35" name="TextBox 34"/>
          <p:cNvSpPr txBox="1"/>
          <p:nvPr/>
        </p:nvSpPr>
        <p:spPr>
          <a:xfrm>
            <a:off x="2827204" y="187308"/>
            <a:ext cx="162462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원자핵 불규칙</a:t>
            </a:r>
            <a:endParaRPr lang="ko-KR" altLang="en-US" sz="1500" dirty="0"/>
          </a:p>
        </p:txBody>
      </p:sp>
      <p:sp>
        <p:nvSpPr>
          <p:cNvPr id="36" name="TextBox 35"/>
          <p:cNvSpPr txBox="1"/>
          <p:nvPr/>
        </p:nvSpPr>
        <p:spPr>
          <a:xfrm>
            <a:off x="375452" y="2931462"/>
            <a:ext cx="1753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altLang="ko-KR" b="1" dirty="0" smtClean="0"/>
              <a:t>-273</a:t>
            </a:r>
            <a:r>
              <a:rPr lang="ko-KR" altLang="en-US" b="1" dirty="0" smtClean="0"/>
              <a:t>도 극저온</a:t>
            </a:r>
            <a:endParaRPr lang="ko-KR" altLang="en-US" b="1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4612" y="4288186"/>
            <a:ext cx="1900037" cy="95835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27204" y="727973"/>
            <a:ext cx="1624629" cy="1014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63194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/>
          <p:cNvSpPr/>
          <p:nvPr/>
        </p:nvSpPr>
        <p:spPr>
          <a:xfrm>
            <a:off x="98715" y="84447"/>
            <a:ext cx="2064193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err="1" smtClean="0"/>
              <a:t>일반금속</a:t>
            </a:r>
            <a:r>
              <a:rPr lang="ko-KR" altLang="en-US" b="1" dirty="0" smtClean="0"/>
              <a:t> 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구리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pic>
        <p:nvPicPr>
          <p:cNvPr id="31" name="그림 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729" y="595480"/>
            <a:ext cx="2064951" cy="1855726"/>
          </a:xfrm>
          <a:prstGeom prst="rect">
            <a:avLst/>
          </a:prstGeom>
        </p:spPr>
      </p:pic>
      <p:sp>
        <p:nvSpPr>
          <p:cNvPr id="30" name="직사각형 29"/>
          <p:cNvSpPr/>
          <p:nvPr/>
        </p:nvSpPr>
        <p:spPr>
          <a:xfrm>
            <a:off x="141323" y="3618955"/>
            <a:ext cx="2415885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err="1" smtClean="0"/>
              <a:t>초전도체</a:t>
            </a:r>
            <a:r>
              <a:rPr lang="ko-KR" altLang="en-US" b="1" dirty="0" smtClean="0"/>
              <a:t> 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알루미늄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729" y="4129988"/>
            <a:ext cx="1823305" cy="1462403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171822" y="3618954"/>
            <a:ext cx="180926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smtClean="0"/>
              <a:t>쿠퍼 전자쌍 형성</a:t>
            </a:r>
            <a:endParaRPr lang="ko-KR" altLang="en-US" sz="1500" dirty="0"/>
          </a:p>
        </p:txBody>
      </p:sp>
      <p:sp>
        <p:nvSpPr>
          <p:cNvPr id="34" name="TextBox 33"/>
          <p:cNvSpPr txBox="1"/>
          <p:nvPr/>
        </p:nvSpPr>
        <p:spPr>
          <a:xfrm>
            <a:off x="2894612" y="3618955"/>
            <a:ext cx="162462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원자핵 모임</a:t>
            </a:r>
            <a:endParaRPr lang="ko-KR" altLang="en-US" sz="1500" dirty="0"/>
          </a:p>
        </p:txBody>
      </p:sp>
      <p:sp>
        <p:nvSpPr>
          <p:cNvPr id="35" name="TextBox 34"/>
          <p:cNvSpPr txBox="1"/>
          <p:nvPr/>
        </p:nvSpPr>
        <p:spPr>
          <a:xfrm>
            <a:off x="2827204" y="187308"/>
            <a:ext cx="162462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원자핵 불규칙</a:t>
            </a:r>
            <a:endParaRPr lang="ko-KR" altLang="en-US" sz="1500" dirty="0"/>
          </a:p>
        </p:txBody>
      </p:sp>
      <p:sp>
        <p:nvSpPr>
          <p:cNvPr id="36" name="TextBox 35"/>
          <p:cNvSpPr txBox="1"/>
          <p:nvPr/>
        </p:nvSpPr>
        <p:spPr>
          <a:xfrm>
            <a:off x="375452" y="2931462"/>
            <a:ext cx="1753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altLang="ko-KR" b="1" dirty="0" smtClean="0"/>
              <a:t>-273</a:t>
            </a:r>
            <a:r>
              <a:rPr lang="ko-KR" altLang="en-US" b="1" dirty="0" smtClean="0"/>
              <a:t>도 극저온</a:t>
            </a:r>
            <a:endParaRPr lang="ko-KR" altLang="en-US" b="1" dirty="0"/>
          </a:p>
        </p:txBody>
      </p:sp>
      <p:sp>
        <p:nvSpPr>
          <p:cNvPr id="39" name="TextBox 38"/>
          <p:cNvSpPr txBox="1"/>
          <p:nvPr/>
        </p:nvSpPr>
        <p:spPr>
          <a:xfrm>
            <a:off x="5307376" y="187308"/>
            <a:ext cx="146343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err="1" smtClean="0"/>
              <a:t>홀전자</a:t>
            </a:r>
            <a:r>
              <a:rPr lang="ko-KR" altLang="en-US" sz="1500" dirty="0" smtClean="0"/>
              <a:t> 유지</a:t>
            </a:r>
            <a:endParaRPr lang="ko-KR" altLang="en-US" sz="15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1435" y="666303"/>
            <a:ext cx="1469705" cy="156795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4612" y="4288186"/>
            <a:ext cx="1900037" cy="95835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27204" y="727973"/>
            <a:ext cx="1624629" cy="1014804"/>
          </a:xfrm>
          <a:prstGeom prst="rect">
            <a:avLst/>
          </a:prstGeom>
        </p:spPr>
      </p:pic>
      <p:pic>
        <p:nvPicPr>
          <p:cNvPr id="45" name="그림 4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7376" y="4417756"/>
            <a:ext cx="1538157" cy="886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248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/>
          <p:cNvSpPr/>
          <p:nvPr/>
        </p:nvSpPr>
        <p:spPr>
          <a:xfrm>
            <a:off x="98715" y="84447"/>
            <a:ext cx="2064193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err="1" smtClean="0"/>
              <a:t>일반금속</a:t>
            </a:r>
            <a:r>
              <a:rPr lang="ko-KR" altLang="en-US" b="1" dirty="0" smtClean="0"/>
              <a:t> 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구리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pic>
        <p:nvPicPr>
          <p:cNvPr id="31" name="그림 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729" y="595480"/>
            <a:ext cx="2064951" cy="1855726"/>
          </a:xfrm>
          <a:prstGeom prst="rect">
            <a:avLst/>
          </a:prstGeom>
        </p:spPr>
      </p:pic>
      <p:sp>
        <p:nvSpPr>
          <p:cNvPr id="30" name="직사각형 29"/>
          <p:cNvSpPr/>
          <p:nvPr/>
        </p:nvSpPr>
        <p:spPr>
          <a:xfrm>
            <a:off x="141323" y="3618955"/>
            <a:ext cx="2415885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err="1" smtClean="0"/>
              <a:t>초전도체</a:t>
            </a:r>
            <a:r>
              <a:rPr lang="ko-KR" altLang="en-US" b="1" dirty="0" smtClean="0"/>
              <a:t> 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알루미늄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729" y="4129988"/>
            <a:ext cx="1823305" cy="1462403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171822" y="3618954"/>
            <a:ext cx="180926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smtClean="0"/>
              <a:t>쿠퍼 전자쌍 형성</a:t>
            </a:r>
            <a:endParaRPr lang="ko-KR" altLang="en-US" sz="1500" dirty="0"/>
          </a:p>
        </p:txBody>
      </p:sp>
      <p:sp>
        <p:nvSpPr>
          <p:cNvPr id="34" name="TextBox 33"/>
          <p:cNvSpPr txBox="1"/>
          <p:nvPr/>
        </p:nvSpPr>
        <p:spPr>
          <a:xfrm>
            <a:off x="2894612" y="3618955"/>
            <a:ext cx="162462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원자핵 모임</a:t>
            </a:r>
            <a:endParaRPr lang="ko-KR" altLang="en-US" sz="1500" dirty="0"/>
          </a:p>
        </p:txBody>
      </p:sp>
      <p:sp>
        <p:nvSpPr>
          <p:cNvPr id="35" name="TextBox 34"/>
          <p:cNvSpPr txBox="1"/>
          <p:nvPr/>
        </p:nvSpPr>
        <p:spPr>
          <a:xfrm>
            <a:off x="2827204" y="187308"/>
            <a:ext cx="162462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원자핵 불규칙</a:t>
            </a:r>
            <a:endParaRPr lang="ko-KR" altLang="en-US" sz="1500" dirty="0"/>
          </a:p>
        </p:txBody>
      </p:sp>
      <p:sp>
        <p:nvSpPr>
          <p:cNvPr id="36" name="TextBox 35"/>
          <p:cNvSpPr txBox="1"/>
          <p:nvPr/>
        </p:nvSpPr>
        <p:spPr>
          <a:xfrm>
            <a:off x="375452" y="2931462"/>
            <a:ext cx="1753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altLang="ko-KR" b="1" dirty="0" smtClean="0"/>
              <a:t>-273</a:t>
            </a:r>
            <a:r>
              <a:rPr lang="ko-KR" altLang="en-US" b="1" dirty="0" smtClean="0"/>
              <a:t>도 극저온</a:t>
            </a:r>
            <a:endParaRPr lang="ko-KR" altLang="en-US" b="1" dirty="0"/>
          </a:p>
        </p:txBody>
      </p:sp>
      <p:sp>
        <p:nvSpPr>
          <p:cNvPr id="39" name="TextBox 38"/>
          <p:cNvSpPr txBox="1"/>
          <p:nvPr/>
        </p:nvSpPr>
        <p:spPr>
          <a:xfrm>
            <a:off x="5307376" y="187308"/>
            <a:ext cx="146343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err="1" smtClean="0"/>
              <a:t>홀전자</a:t>
            </a:r>
            <a:r>
              <a:rPr lang="ko-KR" altLang="en-US" sz="1500" dirty="0" smtClean="0"/>
              <a:t> 유지</a:t>
            </a:r>
            <a:endParaRPr lang="ko-KR" altLang="en-US" sz="1500" dirty="0"/>
          </a:p>
        </p:txBody>
      </p:sp>
      <p:sp>
        <p:nvSpPr>
          <p:cNvPr id="41" name="TextBox 40"/>
          <p:cNvSpPr txBox="1"/>
          <p:nvPr/>
        </p:nvSpPr>
        <p:spPr>
          <a:xfrm>
            <a:off x="7478337" y="3618954"/>
            <a:ext cx="143705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부드러운 흐름</a:t>
            </a:r>
            <a:endParaRPr lang="ko-KR" altLang="en-US" sz="1500" dirty="0"/>
          </a:p>
        </p:txBody>
      </p:sp>
      <p:sp>
        <p:nvSpPr>
          <p:cNvPr id="42" name="TextBox 41"/>
          <p:cNvSpPr txBox="1"/>
          <p:nvPr/>
        </p:nvSpPr>
        <p:spPr>
          <a:xfrm>
            <a:off x="7174762" y="171916"/>
            <a:ext cx="180926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딱딱한 혼란</a:t>
            </a:r>
            <a:endParaRPr lang="ko-KR" altLang="en-US" sz="15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1435" y="666303"/>
            <a:ext cx="1469705" cy="156795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4612" y="4288186"/>
            <a:ext cx="1900037" cy="95835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8337" y="4129988"/>
            <a:ext cx="3011384" cy="155809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27204" y="727973"/>
            <a:ext cx="1624629" cy="1014804"/>
          </a:xfrm>
          <a:prstGeom prst="rect">
            <a:avLst/>
          </a:prstGeom>
        </p:spPr>
      </p:pic>
      <p:pic>
        <p:nvPicPr>
          <p:cNvPr id="45" name="그림 4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7376" y="4417756"/>
            <a:ext cx="1538157" cy="886865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71007" y="510473"/>
            <a:ext cx="2899536" cy="1879618"/>
          </a:xfrm>
          <a:prstGeom prst="rect">
            <a:avLst/>
          </a:prstGeom>
        </p:spPr>
      </p:pic>
      <p:sp>
        <p:nvSpPr>
          <p:cNvPr id="46" name="오른쪽 화살표 45"/>
          <p:cNvSpPr/>
          <p:nvPr/>
        </p:nvSpPr>
        <p:spPr>
          <a:xfrm rot="10800000">
            <a:off x="7615677" y="5035937"/>
            <a:ext cx="2736702" cy="251843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오른쪽 화살표 48"/>
          <p:cNvSpPr/>
          <p:nvPr/>
        </p:nvSpPr>
        <p:spPr>
          <a:xfrm rot="8467233" flipV="1">
            <a:off x="9279011" y="1213784"/>
            <a:ext cx="403362" cy="205758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오른쪽 화살표 49"/>
          <p:cNvSpPr/>
          <p:nvPr/>
        </p:nvSpPr>
        <p:spPr>
          <a:xfrm rot="14313789" flipV="1">
            <a:off x="8087040" y="1795173"/>
            <a:ext cx="403362" cy="205758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오른쪽 화살표 50"/>
          <p:cNvSpPr/>
          <p:nvPr/>
        </p:nvSpPr>
        <p:spPr>
          <a:xfrm rot="17750663" flipV="1">
            <a:off x="8854083" y="1032710"/>
            <a:ext cx="403362" cy="205758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오른쪽 화살표 25"/>
          <p:cNvSpPr/>
          <p:nvPr/>
        </p:nvSpPr>
        <p:spPr>
          <a:xfrm rot="10800000">
            <a:off x="7615677" y="4635635"/>
            <a:ext cx="2736702" cy="251843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227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/>
          <p:cNvSpPr/>
          <p:nvPr/>
        </p:nvSpPr>
        <p:spPr>
          <a:xfrm>
            <a:off x="98715" y="84447"/>
            <a:ext cx="2064193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err="1" smtClean="0"/>
              <a:t>일반금속</a:t>
            </a:r>
            <a:r>
              <a:rPr lang="ko-KR" altLang="en-US" b="1" dirty="0" smtClean="0"/>
              <a:t> 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구리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pic>
        <p:nvPicPr>
          <p:cNvPr id="31" name="그림 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729" y="595480"/>
            <a:ext cx="2064951" cy="1855726"/>
          </a:xfrm>
          <a:prstGeom prst="rect">
            <a:avLst/>
          </a:prstGeom>
        </p:spPr>
      </p:pic>
      <p:sp>
        <p:nvSpPr>
          <p:cNvPr id="30" name="직사각형 29"/>
          <p:cNvSpPr/>
          <p:nvPr/>
        </p:nvSpPr>
        <p:spPr>
          <a:xfrm>
            <a:off x="141323" y="3618955"/>
            <a:ext cx="2415885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err="1" smtClean="0"/>
              <a:t>초전도체</a:t>
            </a:r>
            <a:r>
              <a:rPr lang="ko-KR" altLang="en-US" b="1" dirty="0" smtClean="0"/>
              <a:t> 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알루미늄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729" y="4129988"/>
            <a:ext cx="1823305" cy="1462403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171822" y="3618954"/>
            <a:ext cx="180926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smtClean="0"/>
              <a:t>쿠퍼 전자쌍 형성</a:t>
            </a:r>
            <a:endParaRPr lang="ko-KR" altLang="en-US" sz="1500" dirty="0"/>
          </a:p>
        </p:txBody>
      </p:sp>
      <p:sp>
        <p:nvSpPr>
          <p:cNvPr id="34" name="TextBox 33"/>
          <p:cNvSpPr txBox="1"/>
          <p:nvPr/>
        </p:nvSpPr>
        <p:spPr>
          <a:xfrm>
            <a:off x="2894612" y="3618955"/>
            <a:ext cx="162462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원자핵 모임</a:t>
            </a:r>
            <a:endParaRPr lang="ko-KR" altLang="en-US" sz="1500" dirty="0"/>
          </a:p>
        </p:txBody>
      </p:sp>
      <p:sp>
        <p:nvSpPr>
          <p:cNvPr id="35" name="TextBox 34"/>
          <p:cNvSpPr txBox="1"/>
          <p:nvPr/>
        </p:nvSpPr>
        <p:spPr>
          <a:xfrm>
            <a:off x="2827204" y="187308"/>
            <a:ext cx="162462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원자핵 불규칙</a:t>
            </a:r>
            <a:endParaRPr lang="ko-KR" altLang="en-US" sz="1500" dirty="0"/>
          </a:p>
        </p:txBody>
      </p:sp>
      <p:sp>
        <p:nvSpPr>
          <p:cNvPr id="36" name="TextBox 35"/>
          <p:cNvSpPr txBox="1"/>
          <p:nvPr/>
        </p:nvSpPr>
        <p:spPr>
          <a:xfrm>
            <a:off x="375452" y="2931462"/>
            <a:ext cx="1753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altLang="ko-KR" b="1" dirty="0" smtClean="0"/>
              <a:t>-273</a:t>
            </a:r>
            <a:r>
              <a:rPr lang="ko-KR" altLang="en-US" b="1" dirty="0" smtClean="0"/>
              <a:t>도 극저온</a:t>
            </a:r>
            <a:endParaRPr lang="ko-KR" altLang="en-US" b="1" dirty="0"/>
          </a:p>
        </p:txBody>
      </p:sp>
      <p:sp>
        <p:nvSpPr>
          <p:cNvPr id="39" name="TextBox 38"/>
          <p:cNvSpPr txBox="1"/>
          <p:nvPr/>
        </p:nvSpPr>
        <p:spPr>
          <a:xfrm>
            <a:off x="5307376" y="187308"/>
            <a:ext cx="146343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err="1" smtClean="0"/>
              <a:t>홀전자</a:t>
            </a:r>
            <a:r>
              <a:rPr lang="ko-KR" altLang="en-US" sz="1500" dirty="0" smtClean="0"/>
              <a:t> 유지</a:t>
            </a:r>
            <a:endParaRPr lang="ko-KR" altLang="en-US" sz="1500" dirty="0"/>
          </a:p>
        </p:txBody>
      </p:sp>
      <p:pic>
        <p:nvPicPr>
          <p:cNvPr id="40" name="그림 3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9348" y="2491632"/>
            <a:ext cx="1834263" cy="1536815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478337" y="3618954"/>
            <a:ext cx="143705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부드러운 흐름</a:t>
            </a:r>
            <a:endParaRPr lang="ko-KR" altLang="en-US" sz="1500" dirty="0"/>
          </a:p>
        </p:txBody>
      </p:sp>
      <p:sp>
        <p:nvSpPr>
          <p:cNvPr id="42" name="TextBox 41"/>
          <p:cNvSpPr txBox="1"/>
          <p:nvPr/>
        </p:nvSpPr>
        <p:spPr>
          <a:xfrm>
            <a:off x="7174762" y="171916"/>
            <a:ext cx="180926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smtClean="0"/>
              <a:t>딱딱한 혼란</a:t>
            </a:r>
            <a:endParaRPr lang="ko-KR" altLang="en-US" sz="15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1435" y="666303"/>
            <a:ext cx="1469705" cy="156795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612" y="4288186"/>
            <a:ext cx="1900037" cy="95835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8337" y="4129988"/>
            <a:ext cx="3011384" cy="155809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27204" y="727973"/>
            <a:ext cx="1624629" cy="1014804"/>
          </a:xfrm>
          <a:prstGeom prst="rect">
            <a:avLst/>
          </a:prstGeom>
        </p:spPr>
      </p:pic>
      <p:pic>
        <p:nvPicPr>
          <p:cNvPr id="45" name="그림 4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07376" y="4417756"/>
            <a:ext cx="1538157" cy="886865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71007" y="510473"/>
            <a:ext cx="2899536" cy="1879618"/>
          </a:xfrm>
          <a:prstGeom prst="rect">
            <a:avLst/>
          </a:prstGeom>
        </p:spPr>
      </p:pic>
      <p:sp>
        <p:nvSpPr>
          <p:cNvPr id="46" name="오른쪽 화살표 45"/>
          <p:cNvSpPr/>
          <p:nvPr/>
        </p:nvSpPr>
        <p:spPr>
          <a:xfrm rot="10800000">
            <a:off x="7615677" y="5035937"/>
            <a:ext cx="2736702" cy="251843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오른쪽 화살표 48"/>
          <p:cNvSpPr/>
          <p:nvPr/>
        </p:nvSpPr>
        <p:spPr>
          <a:xfrm rot="8467233" flipV="1">
            <a:off x="9279011" y="1213784"/>
            <a:ext cx="403362" cy="205758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오른쪽 화살표 49"/>
          <p:cNvSpPr/>
          <p:nvPr/>
        </p:nvSpPr>
        <p:spPr>
          <a:xfrm rot="14313789" flipV="1">
            <a:off x="8087040" y="1795173"/>
            <a:ext cx="403362" cy="205758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오른쪽 화살표 50"/>
          <p:cNvSpPr/>
          <p:nvPr/>
        </p:nvSpPr>
        <p:spPr>
          <a:xfrm rot="17750663" flipV="1">
            <a:off x="8854083" y="1032710"/>
            <a:ext cx="403362" cy="205758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오른쪽 화살표 25"/>
          <p:cNvSpPr/>
          <p:nvPr/>
        </p:nvSpPr>
        <p:spPr>
          <a:xfrm rot="10800000">
            <a:off x="7615677" y="4635635"/>
            <a:ext cx="2736702" cy="251843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2857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98715" y="84447"/>
            <a:ext cx="1985062" cy="41431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 smtClean="0"/>
              <a:t>얽힘 </a:t>
            </a:r>
            <a:r>
              <a:rPr lang="en-US" altLang="ko-KR" b="1" dirty="0" smtClean="0"/>
              <a:t>(</a:t>
            </a:r>
            <a:r>
              <a:rPr lang="ko-KR" altLang="en-US" b="1" dirty="0" err="1" smtClean="0"/>
              <a:t>초전도체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sp>
        <p:nvSpPr>
          <p:cNvPr id="3" name="TextBox 2"/>
          <p:cNvSpPr txBox="1"/>
          <p:nvPr/>
        </p:nvSpPr>
        <p:spPr>
          <a:xfrm>
            <a:off x="2323117" y="2360023"/>
            <a:ext cx="253609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sz="1500" dirty="0" err="1" smtClean="0"/>
              <a:t>퀀텀점프</a:t>
            </a:r>
            <a:endParaRPr lang="en-US" altLang="ko-KR" sz="1500" dirty="0" smtClean="0"/>
          </a:p>
          <a:p>
            <a:pPr fontAlgn="base"/>
            <a:endParaRPr lang="en-US" altLang="ko-KR" sz="1500" dirty="0"/>
          </a:p>
          <a:p>
            <a:pPr fontAlgn="base"/>
            <a:r>
              <a:rPr lang="ko-KR" altLang="en-US" sz="1500" dirty="0" smtClean="0"/>
              <a:t>공개키 </a:t>
            </a:r>
            <a:r>
              <a:rPr lang="ko-KR" altLang="en-US" sz="1500" dirty="0" err="1" smtClean="0"/>
              <a:t>수집중</a:t>
            </a:r>
            <a:endParaRPr lang="ko-KR" altLang="en-US" sz="15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0" y="2347912"/>
            <a:ext cx="3810000" cy="216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1329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6021</TotalTime>
  <Words>230</Words>
  <Application>Microsoft Office PowerPoint</Application>
  <PresentationFormat>와이드스크린</PresentationFormat>
  <Paragraphs>95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2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Administrator</dc:creator>
  <cp:lastModifiedBy>Administrator</cp:lastModifiedBy>
  <cp:revision>240</cp:revision>
  <dcterms:created xsi:type="dcterms:W3CDTF">2025-12-25T13:00:27Z</dcterms:created>
  <dcterms:modified xsi:type="dcterms:W3CDTF">2026-04-09T08:03:44Z</dcterms:modified>
</cp:coreProperties>
</file>