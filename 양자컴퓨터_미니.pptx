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gif" ContentType="image/gif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2"/>
  </p:notesMasterIdLst>
  <p:sldIdLst>
    <p:sldId id="544" r:id="rId2"/>
    <p:sldId id="687" r:id="rId3"/>
    <p:sldId id="688" r:id="rId4"/>
    <p:sldId id="689" r:id="rId5"/>
    <p:sldId id="615" r:id="rId6"/>
    <p:sldId id="616" r:id="rId7"/>
    <p:sldId id="639" r:id="rId8"/>
    <p:sldId id="640" r:id="rId9"/>
    <p:sldId id="641" r:id="rId10"/>
    <p:sldId id="643" r:id="rId11"/>
    <p:sldId id="642" r:id="rId12"/>
    <p:sldId id="647" r:id="rId13"/>
    <p:sldId id="668" r:id="rId14"/>
    <p:sldId id="669" r:id="rId15"/>
    <p:sldId id="690" r:id="rId16"/>
    <p:sldId id="670" r:id="rId17"/>
    <p:sldId id="611" r:id="rId18"/>
    <p:sldId id="606" r:id="rId19"/>
    <p:sldId id="612" r:id="rId20"/>
    <p:sldId id="614" r:id="rId21"/>
    <p:sldId id="613" r:id="rId22"/>
    <p:sldId id="633" r:id="rId23"/>
    <p:sldId id="634" r:id="rId24"/>
    <p:sldId id="635" r:id="rId25"/>
    <p:sldId id="685" r:id="rId26"/>
    <p:sldId id="684" r:id="rId27"/>
    <p:sldId id="683" r:id="rId28"/>
    <p:sldId id="686" r:id="rId29"/>
    <p:sldId id="678" r:id="rId30"/>
    <p:sldId id="677" r:id="rId31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1008B8"/>
    <a:srgbClr val="AC351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7994" autoAdjust="0"/>
    <p:restoredTop sz="96400" autoAdjust="0"/>
  </p:normalViewPr>
  <p:slideViewPr>
    <p:cSldViewPr snapToGrid="0">
      <p:cViewPr varScale="1">
        <p:scale>
          <a:sx n="111" d="100"/>
          <a:sy n="111" d="100"/>
        </p:scale>
        <p:origin x="996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theme" Target="theme/theme1.xml"/><Relationship Id="rId8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35E3BE1-06F6-411A-88A9-E3D5601FB140}" type="datetimeFigureOut">
              <a:rPr lang="ko-KR" altLang="en-US" smtClean="0"/>
              <a:t>2026-04-13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AEA04B2-08BC-4101-880E-BC79D98B930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6950366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 smtClean="0"/>
              <a:t>클릭하여 마스터 부제목 스타일 편집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6F2B2B-E9DF-4FE5-A24B-412AD42C0B98}" type="datetimeFigureOut">
              <a:rPr lang="ko-KR" altLang="en-US" smtClean="0"/>
              <a:t>2026-04-13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99BE62-32DE-4211-85EB-0F431352059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579458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6F2B2B-E9DF-4FE5-A24B-412AD42C0B98}" type="datetimeFigureOut">
              <a:rPr lang="ko-KR" altLang="en-US" smtClean="0"/>
              <a:t>2026-04-13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99BE62-32DE-4211-85EB-0F431352059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6972363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6F2B2B-E9DF-4FE5-A24B-412AD42C0B98}" type="datetimeFigureOut">
              <a:rPr lang="ko-KR" altLang="en-US" smtClean="0"/>
              <a:t>2026-04-13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99BE62-32DE-4211-85EB-0F431352059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9983158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6F2B2B-E9DF-4FE5-A24B-412AD42C0B98}" type="datetimeFigureOut">
              <a:rPr lang="ko-KR" altLang="en-US" smtClean="0"/>
              <a:t>2026-04-13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99BE62-32DE-4211-85EB-0F431352059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7859711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6F2B2B-E9DF-4FE5-A24B-412AD42C0B98}" type="datetimeFigureOut">
              <a:rPr lang="ko-KR" altLang="en-US" smtClean="0"/>
              <a:t>2026-04-13</a:t>
            </a:fld>
            <a:endParaRPr lang="ko-KR" altLang="en-US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99BE62-32DE-4211-85EB-0F431352059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6394850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6F2B2B-E9DF-4FE5-A24B-412AD42C0B98}" type="datetimeFigureOut">
              <a:rPr lang="ko-KR" altLang="en-US" smtClean="0"/>
              <a:t>2026-04-13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99BE62-32DE-4211-85EB-0F431352059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21719457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6F2B2B-E9DF-4FE5-A24B-412AD42C0B98}" type="datetimeFigureOut">
              <a:rPr lang="ko-KR" altLang="en-US" smtClean="0"/>
              <a:t>2026-04-13</a:t>
            </a:fld>
            <a:endParaRPr lang="ko-KR" altLang="en-US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99BE62-32DE-4211-85EB-0F431352059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7205921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6F2B2B-E9DF-4FE5-A24B-412AD42C0B98}" type="datetimeFigureOut">
              <a:rPr lang="ko-KR" altLang="en-US" smtClean="0"/>
              <a:t>2026-04-13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99BE62-32DE-4211-85EB-0F431352059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775291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6F2B2B-E9DF-4FE5-A24B-412AD42C0B98}" type="datetimeFigureOut">
              <a:rPr lang="ko-KR" altLang="en-US" smtClean="0"/>
              <a:t>2026-04-13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99BE62-32DE-4211-85EB-0F431352059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6162077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6F2B2B-E9DF-4FE5-A24B-412AD42C0B98}" type="datetimeFigureOut">
              <a:rPr lang="ko-KR" altLang="en-US" smtClean="0"/>
              <a:t>2026-04-13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99BE62-32DE-4211-85EB-0F431352059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560539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6F2B2B-E9DF-4FE5-A24B-412AD42C0B98}" type="datetimeFigureOut">
              <a:rPr lang="ko-KR" altLang="en-US" smtClean="0"/>
              <a:t>2026-04-13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99BE62-32DE-4211-85EB-0F431352059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8713546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86F2B2B-E9DF-4FE5-A24B-412AD42C0B98}" type="datetimeFigureOut">
              <a:rPr lang="ko-KR" altLang="en-US" smtClean="0"/>
              <a:t>2026-04-13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899BE62-32DE-4211-85EB-0F431352059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292108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gif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gif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gif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png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7" Type="http://schemas.openxmlformats.org/officeDocument/2006/relationships/image" Target="../media/image13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1.png"/><Relationship Id="rId5" Type="http://schemas.openxmlformats.org/officeDocument/2006/relationships/image" Target="../media/image10.png"/><Relationship Id="rId4" Type="http://schemas.openxmlformats.org/officeDocument/2006/relationships/image" Target="../media/image12.png"/></Relationships>
</file>

<file path=ppt/slides/_rels/slide2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png"/><Relationship Id="rId3" Type="http://schemas.openxmlformats.org/officeDocument/2006/relationships/image" Target="../media/image7.png"/><Relationship Id="rId7" Type="http://schemas.openxmlformats.org/officeDocument/2006/relationships/image" Target="../media/image11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4.png"/><Relationship Id="rId5" Type="http://schemas.openxmlformats.org/officeDocument/2006/relationships/image" Target="../media/image10.png"/><Relationship Id="rId4" Type="http://schemas.openxmlformats.org/officeDocument/2006/relationships/image" Target="../media/image12.png"/><Relationship Id="rId9" Type="http://schemas.openxmlformats.org/officeDocument/2006/relationships/image" Target="../media/image15.png"/></Relationships>
</file>

<file path=ppt/slides/_rels/slide29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png"/><Relationship Id="rId3" Type="http://schemas.openxmlformats.org/officeDocument/2006/relationships/image" Target="../media/image7.png"/><Relationship Id="rId7" Type="http://schemas.openxmlformats.org/officeDocument/2006/relationships/image" Target="../media/image14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0.png"/><Relationship Id="rId5" Type="http://schemas.openxmlformats.org/officeDocument/2006/relationships/image" Target="../media/image12.png"/><Relationship Id="rId10" Type="http://schemas.openxmlformats.org/officeDocument/2006/relationships/image" Target="../media/image15.png"/><Relationship Id="rId4" Type="http://schemas.openxmlformats.org/officeDocument/2006/relationships/image" Target="../media/image16.png"/><Relationship Id="rId9" Type="http://schemas.openxmlformats.org/officeDocument/2006/relationships/image" Target="../media/image13.png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gif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/>
          <p:cNvSpPr/>
          <p:nvPr/>
        </p:nvSpPr>
        <p:spPr>
          <a:xfrm>
            <a:off x="2884516" y="1936864"/>
            <a:ext cx="5877099" cy="1313411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5000" b="1" dirty="0" smtClean="0"/>
              <a:t>양자 컴퓨터</a:t>
            </a:r>
            <a:endParaRPr lang="ko-KR" altLang="en-US" sz="5000" b="1" dirty="0"/>
          </a:p>
        </p:txBody>
      </p:sp>
    </p:spTree>
    <p:extLst>
      <p:ext uri="{BB962C8B-B14F-4D97-AF65-F5344CB8AC3E}">
        <p14:creationId xmlns:p14="http://schemas.microsoft.com/office/powerpoint/2010/main" val="17216782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직사각형 6"/>
          <p:cNvSpPr/>
          <p:nvPr/>
        </p:nvSpPr>
        <p:spPr>
          <a:xfrm>
            <a:off x="98715" y="84447"/>
            <a:ext cx="2669538" cy="414318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b="1" smtClean="0"/>
              <a:t>컴퓨터의 기본 원리</a:t>
            </a:r>
            <a:endParaRPr lang="ko-KR" altLang="en-US" b="1" dirty="0"/>
          </a:p>
        </p:txBody>
      </p:sp>
      <p:sp>
        <p:nvSpPr>
          <p:cNvPr id="9" name="TextBox 8"/>
          <p:cNvSpPr txBox="1"/>
          <p:nvPr/>
        </p:nvSpPr>
        <p:spPr>
          <a:xfrm>
            <a:off x="5162860" y="1826284"/>
            <a:ext cx="4403172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fontAlgn="base"/>
            <a:r>
              <a:rPr lang="ko-KR" altLang="en-US" sz="2100" dirty="0" smtClean="0"/>
              <a:t>기존 컴퓨터</a:t>
            </a:r>
            <a:r>
              <a:rPr lang="en-US" altLang="ko-KR" sz="2100" dirty="0" smtClean="0"/>
              <a:t>: </a:t>
            </a:r>
            <a:r>
              <a:rPr lang="ko-KR" altLang="en-US" sz="2100" b="1" dirty="0" smtClean="0"/>
              <a:t>비트</a:t>
            </a:r>
            <a:endParaRPr lang="en-US" altLang="ko-KR" sz="2100" dirty="0" smtClean="0"/>
          </a:p>
          <a:p>
            <a:pPr fontAlgn="base"/>
            <a:r>
              <a:rPr lang="en-US" altLang="ko-KR" sz="2100" dirty="0"/>
              <a:t> </a:t>
            </a:r>
            <a:r>
              <a:rPr lang="en-US" altLang="ko-KR" sz="2100" dirty="0" smtClean="0"/>
              <a:t>                </a:t>
            </a:r>
            <a:r>
              <a:rPr lang="en-US" altLang="ko-KR" sz="2100" b="1" dirty="0" smtClean="0"/>
              <a:t>(0, 1)</a:t>
            </a:r>
            <a:endParaRPr lang="ko-KR" altLang="en-US" sz="2100" b="1" dirty="0"/>
          </a:p>
        </p:txBody>
      </p:sp>
      <p:sp>
        <p:nvSpPr>
          <p:cNvPr id="10" name="TextBox 9"/>
          <p:cNvSpPr txBox="1"/>
          <p:nvPr/>
        </p:nvSpPr>
        <p:spPr>
          <a:xfrm>
            <a:off x="5282514" y="4335023"/>
            <a:ext cx="4447134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fontAlgn="base"/>
            <a:r>
              <a:rPr lang="ko-KR" altLang="en-US" sz="2100" dirty="0" smtClean="0"/>
              <a:t>양자 컴퓨터</a:t>
            </a:r>
            <a:r>
              <a:rPr lang="en-US" altLang="ko-KR" sz="2100" dirty="0" smtClean="0"/>
              <a:t>: </a:t>
            </a:r>
            <a:r>
              <a:rPr lang="ko-KR" altLang="en-US" sz="2100" b="1" dirty="0" err="1" smtClean="0"/>
              <a:t>큐비트</a:t>
            </a:r>
            <a:endParaRPr lang="en-US" altLang="ko-KR" sz="2100" dirty="0" smtClean="0"/>
          </a:p>
          <a:p>
            <a:pPr fontAlgn="base"/>
            <a:r>
              <a:rPr lang="en-US" altLang="ko-KR" sz="2100" dirty="0"/>
              <a:t> </a:t>
            </a:r>
            <a:r>
              <a:rPr lang="en-US" altLang="ko-KR" sz="2100" dirty="0" smtClean="0"/>
              <a:t>                </a:t>
            </a:r>
            <a:r>
              <a:rPr lang="en-US" altLang="ko-KR" sz="2100" b="1" dirty="0" smtClean="0"/>
              <a:t>(0, 1, </a:t>
            </a:r>
            <a:r>
              <a:rPr lang="ko-KR" altLang="en-US" sz="2100" b="1" dirty="0" smtClean="0"/>
              <a:t>중첩</a:t>
            </a:r>
            <a:r>
              <a:rPr lang="en-US" altLang="ko-KR" sz="2100" b="1" dirty="0" smtClean="0"/>
              <a:t>)</a:t>
            </a:r>
            <a:endParaRPr lang="ko-KR" altLang="en-US" sz="2100" b="1" dirty="0"/>
          </a:p>
        </p:txBody>
      </p:sp>
      <p:pic>
        <p:nvPicPr>
          <p:cNvPr id="8" name="그림 7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1045" y="1706170"/>
            <a:ext cx="1284366" cy="1101986"/>
          </a:xfrm>
          <a:prstGeom prst="rect">
            <a:avLst/>
          </a:prstGeom>
        </p:spPr>
      </p:pic>
      <p:pic>
        <p:nvPicPr>
          <p:cNvPr id="11" name="그림 10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81422" y="1706170"/>
            <a:ext cx="1284366" cy="1101986"/>
          </a:xfrm>
          <a:prstGeom prst="rect">
            <a:avLst/>
          </a:prstGeom>
        </p:spPr>
      </p:pic>
      <p:sp>
        <p:nvSpPr>
          <p:cNvPr id="3" name="직사각형 2"/>
          <p:cNvSpPr/>
          <p:nvPr/>
        </p:nvSpPr>
        <p:spPr>
          <a:xfrm>
            <a:off x="1085473" y="2736614"/>
            <a:ext cx="375509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ko-KR" sz="2800" b="1" dirty="0" smtClean="0"/>
              <a:t>0</a:t>
            </a:r>
            <a:endParaRPr lang="ko-KR" altLang="en-US" sz="2800" dirty="0"/>
          </a:p>
        </p:txBody>
      </p:sp>
      <p:sp>
        <p:nvSpPr>
          <p:cNvPr id="12" name="직사각형 11"/>
          <p:cNvSpPr/>
          <p:nvPr/>
        </p:nvSpPr>
        <p:spPr>
          <a:xfrm>
            <a:off x="2620763" y="2736614"/>
            <a:ext cx="386209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ko-KR" sz="2800" b="1" dirty="0" smtClean="0"/>
              <a:t>1</a:t>
            </a:r>
            <a:endParaRPr lang="ko-KR" altLang="en-US" sz="2800" dirty="0"/>
          </a:p>
        </p:txBody>
      </p:sp>
      <p:pic>
        <p:nvPicPr>
          <p:cNvPr id="17" name="그림 16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1383" y="4153362"/>
            <a:ext cx="1284366" cy="1101986"/>
          </a:xfrm>
          <a:prstGeom prst="rect">
            <a:avLst/>
          </a:prstGeom>
        </p:spPr>
      </p:pic>
      <p:pic>
        <p:nvPicPr>
          <p:cNvPr id="18" name="그림 17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81760" y="4153362"/>
            <a:ext cx="1284366" cy="1101986"/>
          </a:xfrm>
          <a:prstGeom prst="rect">
            <a:avLst/>
          </a:prstGeom>
        </p:spPr>
      </p:pic>
      <p:sp>
        <p:nvSpPr>
          <p:cNvPr id="19" name="직사각형 18"/>
          <p:cNvSpPr/>
          <p:nvPr/>
        </p:nvSpPr>
        <p:spPr>
          <a:xfrm>
            <a:off x="1085811" y="5183806"/>
            <a:ext cx="375509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ko-KR" sz="2800" b="1" dirty="0" smtClean="0"/>
              <a:t>0</a:t>
            </a:r>
            <a:endParaRPr lang="ko-KR" altLang="en-US" sz="2800" dirty="0"/>
          </a:p>
        </p:txBody>
      </p:sp>
      <p:sp>
        <p:nvSpPr>
          <p:cNvPr id="20" name="직사각형 19"/>
          <p:cNvSpPr/>
          <p:nvPr/>
        </p:nvSpPr>
        <p:spPr>
          <a:xfrm>
            <a:off x="2621101" y="5183806"/>
            <a:ext cx="386209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ko-KR" sz="2800" b="1" dirty="0" smtClean="0"/>
              <a:t>1</a:t>
            </a:r>
            <a:endParaRPr lang="ko-KR" altLang="en-US" sz="2800" dirty="0"/>
          </a:p>
        </p:txBody>
      </p:sp>
      <p:pic>
        <p:nvPicPr>
          <p:cNvPr id="21" name="그림 20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32137" y="4153362"/>
            <a:ext cx="1284366" cy="1101986"/>
          </a:xfrm>
          <a:prstGeom prst="rect">
            <a:avLst/>
          </a:prstGeom>
        </p:spPr>
      </p:pic>
      <p:sp>
        <p:nvSpPr>
          <p:cNvPr id="22" name="직사각형 21"/>
          <p:cNvSpPr/>
          <p:nvPr/>
        </p:nvSpPr>
        <p:spPr>
          <a:xfrm>
            <a:off x="4026877" y="5255348"/>
            <a:ext cx="989626" cy="4770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2500" b="1" dirty="0" smtClean="0"/>
              <a:t>중첩</a:t>
            </a:r>
            <a:endParaRPr lang="ko-KR" altLang="en-US" sz="2500" dirty="0"/>
          </a:p>
        </p:txBody>
      </p:sp>
    </p:spTree>
    <p:extLst>
      <p:ext uri="{BB962C8B-B14F-4D97-AF65-F5344CB8AC3E}">
        <p14:creationId xmlns:p14="http://schemas.microsoft.com/office/powerpoint/2010/main" val="145746668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직사각형 6"/>
          <p:cNvSpPr/>
          <p:nvPr/>
        </p:nvSpPr>
        <p:spPr>
          <a:xfrm>
            <a:off x="98715" y="84447"/>
            <a:ext cx="1912965" cy="414318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b="1" dirty="0" smtClean="0"/>
              <a:t>중첩</a:t>
            </a:r>
            <a:endParaRPr lang="ko-KR" altLang="en-US" b="1" dirty="0"/>
          </a:p>
        </p:txBody>
      </p:sp>
      <p:sp>
        <p:nvSpPr>
          <p:cNvPr id="11" name="타원 10"/>
          <p:cNvSpPr/>
          <p:nvPr/>
        </p:nvSpPr>
        <p:spPr>
          <a:xfrm>
            <a:off x="1100384" y="2921694"/>
            <a:ext cx="415637" cy="390698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 smtClean="0">
                <a:solidFill>
                  <a:schemeClr val="tx1"/>
                </a:solidFill>
              </a:rPr>
              <a:t>0</a:t>
            </a:r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15" name="타원 14"/>
          <p:cNvSpPr/>
          <p:nvPr/>
        </p:nvSpPr>
        <p:spPr>
          <a:xfrm>
            <a:off x="1100384" y="3484517"/>
            <a:ext cx="415637" cy="390698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>
                <a:solidFill>
                  <a:schemeClr val="tx1"/>
                </a:solidFill>
              </a:rPr>
              <a:t>1</a:t>
            </a:r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1695603" y="2891295"/>
            <a:ext cx="1335459" cy="4154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fontAlgn="base"/>
            <a:r>
              <a:rPr lang="en-US" altLang="ko-KR" sz="2100" dirty="0" smtClean="0"/>
              <a:t>1</a:t>
            </a:r>
            <a:r>
              <a:rPr lang="ko-KR" altLang="en-US" sz="2100" dirty="0" smtClean="0"/>
              <a:t>회</a:t>
            </a:r>
            <a:r>
              <a:rPr lang="en-US" altLang="ko-KR" sz="2100" dirty="0" smtClean="0"/>
              <a:t>: </a:t>
            </a:r>
            <a:r>
              <a:rPr lang="en-US" altLang="ko-KR" sz="2100" dirty="0" smtClean="0"/>
              <a:t>0</a:t>
            </a:r>
            <a:endParaRPr lang="ko-KR" altLang="en-US" sz="2100" dirty="0"/>
          </a:p>
        </p:txBody>
      </p:sp>
      <p:sp>
        <p:nvSpPr>
          <p:cNvPr id="21" name="TextBox 20"/>
          <p:cNvSpPr txBox="1"/>
          <p:nvPr/>
        </p:nvSpPr>
        <p:spPr>
          <a:xfrm>
            <a:off x="1725654" y="3439527"/>
            <a:ext cx="938415" cy="4154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fontAlgn="base"/>
            <a:r>
              <a:rPr lang="en-US" altLang="ko-KR" sz="2100" dirty="0" smtClean="0"/>
              <a:t>2</a:t>
            </a:r>
            <a:r>
              <a:rPr lang="ko-KR" altLang="en-US" sz="2100" dirty="0" smtClean="0"/>
              <a:t>회</a:t>
            </a:r>
            <a:r>
              <a:rPr lang="en-US" altLang="ko-KR" sz="2100" dirty="0" smtClean="0"/>
              <a:t>: </a:t>
            </a:r>
            <a:r>
              <a:rPr lang="en-US" altLang="ko-KR" sz="2100" dirty="0" smtClean="0"/>
              <a:t>1</a:t>
            </a:r>
            <a:endParaRPr lang="ko-KR" altLang="en-US" sz="2100" dirty="0"/>
          </a:p>
        </p:txBody>
      </p:sp>
      <p:sp>
        <p:nvSpPr>
          <p:cNvPr id="25" name="TextBox 24"/>
          <p:cNvSpPr txBox="1"/>
          <p:nvPr/>
        </p:nvSpPr>
        <p:spPr>
          <a:xfrm>
            <a:off x="267927" y="818965"/>
            <a:ext cx="4339242" cy="4770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fontAlgn="base"/>
            <a:r>
              <a:rPr lang="ko-KR" altLang="en-US" sz="2500" dirty="0" smtClean="0"/>
              <a:t>비번이 </a:t>
            </a:r>
            <a:r>
              <a:rPr lang="en-US" altLang="ko-KR" sz="2500" b="1" dirty="0" smtClean="0">
                <a:solidFill>
                  <a:srgbClr val="1008B8"/>
                </a:solidFill>
              </a:rPr>
              <a:t>0, 1 </a:t>
            </a:r>
            <a:r>
              <a:rPr lang="ko-KR" altLang="en-US" sz="2500" dirty="0" smtClean="0"/>
              <a:t>중 하나인 경우</a:t>
            </a:r>
            <a:endParaRPr lang="ko-KR" altLang="en-US" sz="2500" dirty="0"/>
          </a:p>
        </p:txBody>
      </p:sp>
      <p:sp>
        <p:nvSpPr>
          <p:cNvPr id="24" name="직사각형 23"/>
          <p:cNvSpPr/>
          <p:nvPr/>
        </p:nvSpPr>
        <p:spPr>
          <a:xfrm>
            <a:off x="622017" y="1377201"/>
            <a:ext cx="2755162" cy="414318"/>
          </a:xfrm>
          <a:prstGeom prst="rect">
            <a:avLst/>
          </a:prstGeom>
          <a:solidFill>
            <a:schemeClr val="bg2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b="1" dirty="0" smtClean="0"/>
              <a:t>도둑아</a:t>
            </a:r>
            <a:r>
              <a:rPr lang="en-US" altLang="ko-KR" b="1" dirty="0" smtClean="0"/>
              <a:t>… </a:t>
            </a:r>
            <a:r>
              <a:rPr lang="ko-KR" altLang="en-US" b="1" dirty="0" smtClean="0"/>
              <a:t>맞춰봐</a:t>
            </a:r>
            <a:endParaRPr lang="ko-KR" altLang="en-US" b="1" dirty="0"/>
          </a:p>
        </p:txBody>
      </p:sp>
      <p:sp>
        <p:nvSpPr>
          <p:cNvPr id="27" name="TextBox 26"/>
          <p:cNvSpPr txBox="1"/>
          <p:nvPr/>
        </p:nvSpPr>
        <p:spPr>
          <a:xfrm>
            <a:off x="917220" y="2349838"/>
            <a:ext cx="327671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fontAlgn="base"/>
            <a:r>
              <a:rPr lang="ko-KR" altLang="en-US" b="1" dirty="0" smtClean="0"/>
              <a:t>기존 컴퓨터</a:t>
            </a:r>
            <a:endParaRPr lang="ko-KR" altLang="en-US" b="1" dirty="0"/>
          </a:p>
        </p:txBody>
      </p:sp>
      <p:pic>
        <p:nvPicPr>
          <p:cNvPr id="28" name="그림 27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93269" y="2728846"/>
            <a:ext cx="643457" cy="552086"/>
          </a:xfrm>
          <a:prstGeom prst="rect">
            <a:avLst/>
          </a:prstGeom>
        </p:spPr>
      </p:pic>
      <p:sp>
        <p:nvSpPr>
          <p:cNvPr id="29" name="TextBox 28"/>
          <p:cNvSpPr txBox="1"/>
          <p:nvPr/>
        </p:nvSpPr>
        <p:spPr>
          <a:xfrm>
            <a:off x="8419991" y="2345124"/>
            <a:ext cx="161686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fontAlgn="base"/>
            <a:r>
              <a:rPr lang="ko-KR" altLang="en-US" b="1" dirty="0" smtClean="0"/>
              <a:t>양자 컴퓨터</a:t>
            </a:r>
            <a:endParaRPr lang="ko-KR" altLang="en-US" b="1" dirty="0"/>
          </a:p>
        </p:txBody>
      </p:sp>
      <p:sp>
        <p:nvSpPr>
          <p:cNvPr id="30" name="TextBox 29"/>
          <p:cNvSpPr txBox="1"/>
          <p:nvPr/>
        </p:nvSpPr>
        <p:spPr>
          <a:xfrm>
            <a:off x="8657436" y="2797140"/>
            <a:ext cx="1335459" cy="4154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fontAlgn="base"/>
            <a:r>
              <a:rPr lang="en-US" altLang="ko-KR" sz="2100" dirty="0" smtClean="0"/>
              <a:t>1</a:t>
            </a:r>
            <a:r>
              <a:rPr lang="ko-KR" altLang="en-US" sz="2100" dirty="0" smtClean="0"/>
              <a:t>회</a:t>
            </a:r>
            <a:r>
              <a:rPr lang="en-US" altLang="ko-KR" sz="2100" dirty="0" smtClean="0"/>
              <a:t>: </a:t>
            </a:r>
            <a:r>
              <a:rPr lang="en-US" altLang="ko-KR" sz="2100" dirty="0" smtClean="0"/>
              <a:t>0, 1</a:t>
            </a:r>
            <a:endParaRPr lang="ko-KR" altLang="en-US" sz="2100" dirty="0"/>
          </a:p>
        </p:txBody>
      </p:sp>
      <p:sp>
        <p:nvSpPr>
          <p:cNvPr id="31" name="TextBox 30"/>
          <p:cNvSpPr txBox="1"/>
          <p:nvPr/>
        </p:nvSpPr>
        <p:spPr>
          <a:xfrm>
            <a:off x="642461" y="2954324"/>
            <a:ext cx="354090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fontAlgn="base"/>
            <a:r>
              <a:rPr lang="en-US" altLang="ko-KR" sz="1500" b="1" dirty="0" smtClean="0">
                <a:solidFill>
                  <a:srgbClr val="1008B8"/>
                </a:solidFill>
              </a:rPr>
              <a:t>0</a:t>
            </a:r>
            <a:endParaRPr lang="ko-KR" altLang="en-US" sz="1500" b="1" dirty="0">
              <a:solidFill>
                <a:srgbClr val="1008B8"/>
              </a:solidFill>
            </a:endParaRPr>
          </a:p>
        </p:txBody>
      </p:sp>
      <p:sp>
        <p:nvSpPr>
          <p:cNvPr id="32" name="TextBox 31"/>
          <p:cNvSpPr txBox="1"/>
          <p:nvPr/>
        </p:nvSpPr>
        <p:spPr>
          <a:xfrm>
            <a:off x="654999" y="3516005"/>
            <a:ext cx="354090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fontAlgn="base"/>
            <a:r>
              <a:rPr lang="en-US" altLang="ko-KR" sz="1500" b="1" dirty="0" smtClean="0">
                <a:solidFill>
                  <a:srgbClr val="1008B8"/>
                </a:solidFill>
              </a:rPr>
              <a:t>1</a:t>
            </a:r>
            <a:endParaRPr lang="ko-KR" altLang="en-US" sz="1500" b="1" dirty="0">
              <a:solidFill>
                <a:srgbClr val="1008B8"/>
              </a:solidFill>
            </a:endParaRPr>
          </a:p>
        </p:txBody>
      </p:sp>
      <p:sp>
        <p:nvSpPr>
          <p:cNvPr id="33" name="TextBox 32"/>
          <p:cNvSpPr txBox="1"/>
          <p:nvPr/>
        </p:nvSpPr>
        <p:spPr>
          <a:xfrm>
            <a:off x="7722764" y="3277489"/>
            <a:ext cx="584465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fontAlgn="base"/>
            <a:r>
              <a:rPr lang="ko-KR" altLang="en-US" sz="1500" b="1" smtClean="0"/>
              <a:t>중첩</a:t>
            </a:r>
            <a:endParaRPr lang="ko-KR" altLang="en-US" sz="1500" b="1" dirty="0"/>
          </a:p>
        </p:txBody>
      </p:sp>
    </p:spTree>
    <p:extLst>
      <p:ext uri="{BB962C8B-B14F-4D97-AF65-F5344CB8AC3E}">
        <p14:creationId xmlns:p14="http://schemas.microsoft.com/office/powerpoint/2010/main" val="172589949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직사각형 6"/>
          <p:cNvSpPr/>
          <p:nvPr/>
        </p:nvSpPr>
        <p:spPr>
          <a:xfrm>
            <a:off x="98715" y="84447"/>
            <a:ext cx="1912965" cy="414318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b="1" dirty="0" smtClean="0"/>
              <a:t>중첩</a:t>
            </a:r>
            <a:endParaRPr lang="ko-KR" altLang="en-US" b="1" dirty="0"/>
          </a:p>
        </p:txBody>
      </p:sp>
      <p:sp>
        <p:nvSpPr>
          <p:cNvPr id="25" name="TextBox 24"/>
          <p:cNvSpPr txBox="1"/>
          <p:nvPr/>
        </p:nvSpPr>
        <p:spPr>
          <a:xfrm>
            <a:off x="267926" y="818965"/>
            <a:ext cx="5385527" cy="4770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fontAlgn="base"/>
            <a:r>
              <a:rPr lang="ko-KR" altLang="en-US" sz="2500" dirty="0" smtClean="0"/>
              <a:t>비번이 </a:t>
            </a:r>
            <a:r>
              <a:rPr lang="en-US" altLang="ko-KR" sz="2500" b="1" dirty="0" smtClean="0">
                <a:solidFill>
                  <a:srgbClr val="1008B8"/>
                </a:solidFill>
              </a:rPr>
              <a:t>0, 1, 2, 3 </a:t>
            </a:r>
            <a:r>
              <a:rPr lang="ko-KR" altLang="en-US" sz="2500" dirty="0" smtClean="0"/>
              <a:t>중 하나인 경우</a:t>
            </a:r>
            <a:endParaRPr lang="ko-KR" altLang="en-US" sz="2500" dirty="0"/>
          </a:p>
        </p:txBody>
      </p:sp>
      <p:sp>
        <p:nvSpPr>
          <p:cNvPr id="24" name="직사각형 23"/>
          <p:cNvSpPr/>
          <p:nvPr/>
        </p:nvSpPr>
        <p:spPr>
          <a:xfrm>
            <a:off x="622017" y="1377201"/>
            <a:ext cx="2755162" cy="414318"/>
          </a:xfrm>
          <a:prstGeom prst="rect">
            <a:avLst/>
          </a:prstGeom>
          <a:solidFill>
            <a:schemeClr val="bg2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b="1" dirty="0" smtClean="0"/>
              <a:t>도둑아</a:t>
            </a:r>
            <a:r>
              <a:rPr lang="en-US" altLang="ko-KR" b="1" dirty="0" smtClean="0"/>
              <a:t>… </a:t>
            </a:r>
            <a:r>
              <a:rPr lang="ko-KR" altLang="en-US" b="1" dirty="0" smtClean="0"/>
              <a:t>맞춰봐</a:t>
            </a:r>
            <a:endParaRPr lang="ko-KR" altLang="en-US" b="1" dirty="0"/>
          </a:p>
        </p:txBody>
      </p:sp>
      <p:sp>
        <p:nvSpPr>
          <p:cNvPr id="27" name="TextBox 26"/>
          <p:cNvSpPr txBox="1"/>
          <p:nvPr/>
        </p:nvSpPr>
        <p:spPr>
          <a:xfrm>
            <a:off x="917220" y="2349838"/>
            <a:ext cx="327671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fontAlgn="base"/>
            <a:r>
              <a:rPr lang="ko-KR" altLang="en-US" b="1" dirty="0" smtClean="0"/>
              <a:t>기존 컴퓨터</a:t>
            </a:r>
            <a:endParaRPr lang="ko-KR" altLang="en-US" b="1" dirty="0"/>
          </a:p>
        </p:txBody>
      </p:sp>
      <p:sp>
        <p:nvSpPr>
          <p:cNvPr id="29" name="TextBox 28"/>
          <p:cNvSpPr txBox="1"/>
          <p:nvPr/>
        </p:nvSpPr>
        <p:spPr>
          <a:xfrm>
            <a:off x="8419991" y="2345124"/>
            <a:ext cx="161686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fontAlgn="base"/>
            <a:r>
              <a:rPr lang="ko-KR" altLang="en-US" b="1" dirty="0" smtClean="0"/>
              <a:t>양자 컴퓨터</a:t>
            </a:r>
            <a:endParaRPr lang="ko-KR" altLang="en-US" b="1" dirty="0"/>
          </a:p>
        </p:txBody>
      </p:sp>
      <p:sp>
        <p:nvSpPr>
          <p:cNvPr id="30" name="TextBox 29"/>
          <p:cNvSpPr txBox="1"/>
          <p:nvPr/>
        </p:nvSpPr>
        <p:spPr>
          <a:xfrm>
            <a:off x="8657437" y="2797140"/>
            <a:ext cx="2552756" cy="4154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fontAlgn="base"/>
            <a:r>
              <a:rPr lang="en-US" altLang="ko-KR" sz="2100" dirty="0" smtClean="0"/>
              <a:t>1</a:t>
            </a:r>
            <a:r>
              <a:rPr lang="ko-KR" altLang="en-US" sz="2100" dirty="0" smtClean="0"/>
              <a:t>회</a:t>
            </a:r>
            <a:r>
              <a:rPr lang="en-US" altLang="ko-KR" sz="2100" dirty="0" smtClean="0"/>
              <a:t>: </a:t>
            </a:r>
            <a:r>
              <a:rPr lang="en-US" altLang="ko-KR" sz="2100" dirty="0" smtClean="0"/>
              <a:t>00, 01, 10, 11</a:t>
            </a:r>
            <a:endParaRPr lang="ko-KR" altLang="en-US" sz="2100" dirty="0"/>
          </a:p>
        </p:txBody>
      </p:sp>
      <p:sp>
        <p:nvSpPr>
          <p:cNvPr id="34" name="타원 33"/>
          <p:cNvSpPr/>
          <p:nvPr/>
        </p:nvSpPr>
        <p:spPr>
          <a:xfrm>
            <a:off x="1113905" y="2909456"/>
            <a:ext cx="415637" cy="390698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 smtClean="0">
                <a:solidFill>
                  <a:schemeClr val="tx1"/>
                </a:solidFill>
              </a:rPr>
              <a:t>0</a:t>
            </a:r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35" name="타원 34"/>
          <p:cNvSpPr/>
          <p:nvPr/>
        </p:nvSpPr>
        <p:spPr>
          <a:xfrm>
            <a:off x="1575169" y="2904107"/>
            <a:ext cx="415637" cy="390698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 smtClean="0">
                <a:solidFill>
                  <a:schemeClr val="tx1"/>
                </a:solidFill>
              </a:rPr>
              <a:t>0</a:t>
            </a:r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36" name="타원 35"/>
          <p:cNvSpPr/>
          <p:nvPr/>
        </p:nvSpPr>
        <p:spPr>
          <a:xfrm>
            <a:off x="1113905" y="3472279"/>
            <a:ext cx="415637" cy="390698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 smtClean="0">
                <a:solidFill>
                  <a:schemeClr val="tx1"/>
                </a:solidFill>
              </a:rPr>
              <a:t>0</a:t>
            </a:r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37" name="타원 36"/>
          <p:cNvSpPr/>
          <p:nvPr/>
        </p:nvSpPr>
        <p:spPr>
          <a:xfrm>
            <a:off x="1575169" y="3466930"/>
            <a:ext cx="415637" cy="390698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>
                <a:solidFill>
                  <a:schemeClr val="tx1"/>
                </a:solidFill>
              </a:rPr>
              <a:t>1</a:t>
            </a:r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38" name="타원 37"/>
          <p:cNvSpPr/>
          <p:nvPr/>
        </p:nvSpPr>
        <p:spPr>
          <a:xfrm>
            <a:off x="1134779" y="4035102"/>
            <a:ext cx="415637" cy="390698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>
                <a:solidFill>
                  <a:schemeClr val="tx1"/>
                </a:solidFill>
              </a:rPr>
              <a:t>1</a:t>
            </a:r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39" name="타원 38"/>
          <p:cNvSpPr/>
          <p:nvPr/>
        </p:nvSpPr>
        <p:spPr>
          <a:xfrm>
            <a:off x="1596043" y="4029753"/>
            <a:ext cx="415637" cy="390698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 smtClean="0">
                <a:solidFill>
                  <a:schemeClr val="tx1"/>
                </a:solidFill>
              </a:rPr>
              <a:t>0</a:t>
            </a:r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40" name="타원 39"/>
          <p:cNvSpPr/>
          <p:nvPr/>
        </p:nvSpPr>
        <p:spPr>
          <a:xfrm>
            <a:off x="1134779" y="4597925"/>
            <a:ext cx="415637" cy="390698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>
                <a:solidFill>
                  <a:schemeClr val="tx1"/>
                </a:solidFill>
              </a:rPr>
              <a:t>1</a:t>
            </a:r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41" name="타원 40"/>
          <p:cNvSpPr/>
          <p:nvPr/>
        </p:nvSpPr>
        <p:spPr>
          <a:xfrm>
            <a:off x="1596043" y="4592576"/>
            <a:ext cx="415637" cy="390698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>
                <a:solidFill>
                  <a:schemeClr val="tx1"/>
                </a:solidFill>
              </a:rPr>
              <a:t>1</a:t>
            </a:r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42" name="TextBox 41"/>
          <p:cNvSpPr txBox="1"/>
          <p:nvPr/>
        </p:nvSpPr>
        <p:spPr>
          <a:xfrm>
            <a:off x="2170388" y="2873708"/>
            <a:ext cx="1335459" cy="4154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fontAlgn="base"/>
            <a:r>
              <a:rPr lang="en-US" altLang="ko-KR" sz="2100" dirty="0" smtClean="0"/>
              <a:t>1</a:t>
            </a:r>
            <a:r>
              <a:rPr lang="ko-KR" altLang="en-US" sz="2100" dirty="0" smtClean="0"/>
              <a:t>회</a:t>
            </a:r>
            <a:r>
              <a:rPr lang="en-US" altLang="ko-KR" sz="2100" dirty="0" smtClean="0"/>
              <a:t>: 00</a:t>
            </a:r>
            <a:endParaRPr lang="ko-KR" altLang="en-US" sz="2100" dirty="0"/>
          </a:p>
        </p:txBody>
      </p:sp>
      <p:sp>
        <p:nvSpPr>
          <p:cNvPr id="43" name="TextBox 42"/>
          <p:cNvSpPr txBox="1"/>
          <p:nvPr/>
        </p:nvSpPr>
        <p:spPr>
          <a:xfrm>
            <a:off x="2200439" y="3421940"/>
            <a:ext cx="1335459" cy="4154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fontAlgn="base"/>
            <a:r>
              <a:rPr lang="en-US" altLang="ko-KR" sz="2100" dirty="0" smtClean="0"/>
              <a:t>2</a:t>
            </a:r>
            <a:r>
              <a:rPr lang="ko-KR" altLang="en-US" sz="2100" dirty="0" smtClean="0"/>
              <a:t>회</a:t>
            </a:r>
            <a:r>
              <a:rPr lang="en-US" altLang="ko-KR" sz="2100" dirty="0" smtClean="0"/>
              <a:t>: 01</a:t>
            </a:r>
            <a:endParaRPr lang="ko-KR" altLang="en-US" sz="2100" dirty="0"/>
          </a:p>
        </p:txBody>
      </p:sp>
      <p:sp>
        <p:nvSpPr>
          <p:cNvPr id="44" name="TextBox 43"/>
          <p:cNvSpPr txBox="1"/>
          <p:nvPr/>
        </p:nvSpPr>
        <p:spPr>
          <a:xfrm>
            <a:off x="2221313" y="3993076"/>
            <a:ext cx="1335459" cy="4154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fontAlgn="base"/>
            <a:r>
              <a:rPr lang="en-US" altLang="ko-KR" sz="2100" dirty="0" smtClean="0"/>
              <a:t>3</a:t>
            </a:r>
            <a:r>
              <a:rPr lang="ko-KR" altLang="en-US" sz="2100" dirty="0" smtClean="0"/>
              <a:t>회</a:t>
            </a:r>
            <a:r>
              <a:rPr lang="en-US" altLang="ko-KR" sz="2100" dirty="0" smtClean="0"/>
              <a:t>: 10</a:t>
            </a:r>
            <a:endParaRPr lang="ko-KR" altLang="en-US" sz="2100" dirty="0"/>
          </a:p>
        </p:txBody>
      </p:sp>
      <p:sp>
        <p:nvSpPr>
          <p:cNvPr id="45" name="TextBox 44"/>
          <p:cNvSpPr txBox="1"/>
          <p:nvPr/>
        </p:nvSpPr>
        <p:spPr>
          <a:xfrm>
            <a:off x="2221313" y="4533947"/>
            <a:ext cx="1335459" cy="4154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fontAlgn="base"/>
            <a:r>
              <a:rPr lang="en-US" altLang="ko-KR" sz="2100" dirty="0" smtClean="0"/>
              <a:t>4</a:t>
            </a:r>
            <a:r>
              <a:rPr lang="ko-KR" altLang="en-US" sz="2100" dirty="0" smtClean="0"/>
              <a:t>회</a:t>
            </a:r>
            <a:r>
              <a:rPr lang="en-US" altLang="ko-KR" sz="2100" dirty="0" smtClean="0"/>
              <a:t>: 11</a:t>
            </a:r>
            <a:endParaRPr lang="ko-KR" altLang="en-US" sz="2100" dirty="0"/>
          </a:p>
        </p:txBody>
      </p:sp>
      <p:sp>
        <p:nvSpPr>
          <p:cNvPr id="46" name="TextBox 45"/>
          <p:cNvSpPr txBox="1"/>
          <p:nvPr/>
        </p:nvSpPr>
        <p:spPr>
          <a:xfrm>
            <a:off x="642461" y="2954324"/>
            <a:ext cx="354090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fontAlgn="base"/>
            <a:r>
              <a:rPr lang="en-US" altLang="ko-KR" sz="1500" b="1" dirty="0" smtClean="0">
                <a:solidFill>
                  <a:srgbClr val="1008B8"/>
                </a:solidFill>
              </a:rPr>
              <a:t>0</a:t>
            </a:r>
            <a:endParaRPr lang="ko-KR" altLang="en-US" sz="1500" b="1" dirty="0">
              <a:solidFill>
                <a:srgbClr val="1008B8"/>
              </a:solidFill>
            </a:endParaRPr>
          </a:p>
        </p:txBody>
      </p:sp>
      <p:sp>
        <p:nvSpPr>
          <p:cNvPr id="47" name="TextBox 46"/>
          <p:cNvSpPr txBox="1"/>
          <p:nvPr/>
        </p:nvSpPr>
        <p:spPr>
          <a:xfrm>
            <a:off x="654999" y="3516005"/>
            <a:ext cx="354090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fontAlgn="base"/>
            <a:r>
              <a:rPr lang="en-US" altLang="ko-KR" sz="1500" b="1" dirty="0" smtClean="0">
                <a:solidFill>
                  <a:srgbClr val="1008B8"/>
                </a:solidFill>
              </a:rPr>
              <a:t>1</a:t>
            </a:r>
            <a:endParaRPr lang="ko-KR" altLang="en-US" sz="1500" b="1" dirty="0">
              <a:solidFill>
                <a:srgbClr val="1008B8"/>
              </a:solidFill>
            </a:endParaRPr>
          </a:p>
        </p:txBody>
      </p:sp>
      <p:sp>
        <p:nvSpPr>
          <p:cNvPr id="48" name="TextBox 47"/>
          <p:cNvSpPr txBox="1"/>
          <p:nvPr/>
        </p:nvSpPr>
        <p:spPr>
          <a:xfrm>
            <a:off x="675873" y="4074324"/>
            <a:ext cx="354090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fontAlgn="base"/>
            <a:r>
              <a:rPr lang="en-US" altLang="ko-KR" sz="1500" b="1" dirty="0" smtClean="0">
                <a:solidFill>
                  <a:srgbClr val="1008B8"/>
                </a:solidFill>
              </a:rPr>
              <a:t>2</a:t>
            </a:r>
            <a:endParaRPr lang="ko-KR" altLang="en-US" sz="1500" b="1" dirty="0">
              <a:solidFill>
                <a:srgbClr val="1008B8"/>
              </a:solidFill>
            </a:endParaRPr>
          </a:p>
        </p:txBody>
      </p:sp>
      <p:sp>
        <p:nvSpPr>
          <p:cNvPr id="49" name="TextBox 48"/>
          <p:cNvSpPr txBox="1"/>
          <p:nvPr/>
        </p:nvSpPr>
        <p:spPr>
          <a:xfrm>
            <a:off x="675873" y="4598485"/>
            <a:ext cx="354090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fontAlgn="base"/>
            <a:r>
              <a:rPr lang="en-US" altLang="ko-KR" sz="1500" b="1" dirty="0" smtClean="0">
                <a:solidFill>
                  <a:srgbClr val="1008B8"/>
                </a:solidFill>
              </a:rPr>
              <a:t>3</a:t>
            </a:r>
            <a:endParaRPr lang="ko-KR" altLang="en-US" sz="1500" b="1" dirty="0">
              <a:solidFill>
                <a:srgbClr val="1008B8"/>
              </a:solidFill>
            </a:endParaRPr>
          </a:p>
        </p:txBody>
      </p:sp>
      <p:pic>
        <p:nvPicPr>
          <p:cNvPr id="51" name="그림 50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93269" y="2728846"/>
            <a:ext cx="643457" cy="552086"/>
          </a:xfrm>
          <a:prstGeom prst="rect">
            <a:avLst/>
          </a:prstGeom>
        </p:spPr>
      </p:pic>
      <p:sp>
        <p:nvSpPr>
          <p:cNvPr id="52" name="TextBox 51"/>
          <p:cNvSpPr txBox="1"/>
          <p:nvPr/>
        </p:nvSpPr>
        <p:spPr>
          <a:xfrm>
            <a:off x="7722764" y="3277489"/>
            <a:ext cx="584465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fontAlgn="base"/>
            <a:r>
              <a:rPr lang="ko-KR" altLang="en-US" sz="1500" b="1" smtClean="0"/>
              <a:t>중첩</a:t>
            </a:r>
            <a:endParaRPr lang="ko-KR" altLang="en-US" sz="1500" b="1" dirty="0"/>
          </a:p>
        </p:txBody>
      </p:sp>
      <p:pic>
        <p:nvPicPr>
          <p:cNvPr id="53" name="그림 52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84022" y="2722983"/>
            <a:ext cx="643457" cy="552086"/>
          </a:xfrm>
          <a:prstGeom prst="rect">
            <a:avLst/>
          </a:prstGeom>
        </p:spPr>
      </p:pic>
      <p:sp>
        <p:nvSpPr>
          <p:cNvPr id="54" name="TextBox 53"/>
          <p:cNvSpPr txBox="1"/>
          <p:nvPr/>
        </p:nvSpPr>
        <p:spPr>
          <a:xfrm>
            <a:off x="7013517" y="3271626"/>
            <a:ext cx="584465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fontAlgn="base"/>
            <a:r>
              <a:rPr lang="ko-KR" altLang="en-US" sz="1500" b="1" smtClean="0"/>
              <a:t>중첩</a:t>
            </a:r>
            <a:endParaRPr lang="ko-KR" altLang="en-US" sz="1500" b="1" dirty="0"/>
          </a:p>
        </p:txBody>
      </p:sp>
    </p:spTree>
    <p:extLst>
      <p:ext uri="{BB962C8B-B14F-4D97-AF65-F5344CB8AC3E}">
        <p14:creationId xmlns:p14="http://schemas.microsoft.com/office/powerpoint/2010/main" val="374830010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타원 1"/>
          <p:cNvSpPr/>
          <p:nvPr/>
        </p:nvSpPr>
        <p:spPr>
          <a:xfrm>
            <a:off x="5442436" y="1929913"/>
            <a:ext cx="589084" cy="545122"/>
          </a:xfrm>
          <a:prstGeom prst="ellipse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3800" dirty="0"/>
          </a:p>
        </p:txBody>
      </p:sp>
      <p:sp>
        <p:nvSpPr>
          <p:cNvPr id="3" name="직사각형 2"/>
          <p:cNvSpPr/>
          <p:nvPr/>
        </p:nvSpPr>
        <p:spPr>
          <a:xfrm>
            <a:off x="5565528" y="2154116"/>
            <a:ext cx="373673" cy="9231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" name="타원 5"/>
          <p:cNvSpPr/>
          <p:nvPr/>
        </p:nvSpPr>
        <p:spPr>
          <a:xfrm>
            <a:off x="7499837" y="1929913"/>
            <a:ext cx="589084" cy="545122"/>
          </a:xfrm>
          <a:prstGeom prst="ellipse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3800" dirty="0"/>
          </a:p>
        </p:txBody>
      </p:sp>
      <p:sp>
        <p:nvSpPr>
          <p:cNvPr id="7" name="직사각형 6"/>
          <p:cNvSpPr/>
          <p:nvPr/>
        </p:nvSpPr>
        <p:spPr>
          <a:xfrm>
            <a:off x="7622929" y="2154116"/>
            <a:ext cx="373673" cy="9231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" name="왼쪽/오른쪽 화살표 3"/>
          <p:cNvSpPr/>
          <p:nvPr/>
        </p:nvSpPr>
        <p:spPr>
          <a:xfrm>
            <a:off x="6131534" y="2002448"/>
            <a:ext cx="1268289" cy="395654"/>
          </a:xfrm>
          <a:prstGeom prst="leftRightArrow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2" name="TextBox 11"/>
          <p:cNvSpPr txBox="1"/>
          <p:nvPr/>
        </p:nvSpPr>
        <p:spPr>
          <a:xfrm>
            <a:off x="5709253" y="2622305"/>
            <a:ext cx="2402745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fontAlgn="base"/>
            <a:r>
              <a:rPr lang="ko-KR" altLang="en-US" sz="1500" dirty="0" smtClean="0"/>
              <a:t>같은 음전하</a:t>
            </a:r>
            <a:r>
              <a:rPr lang="en-US" altLang="ko-KR" sz="1500" dirty="0" smtClean="0"/>
              <a:t>: </a:t>
            </a:r>
            <a:r>
              <a:rPr lang="ko-KR" altLang="en-US" sz="1500" dirty="0" smtClean="0"/>
              <a:t>서로 밀어냄</a:t>
            </a:r>
            <a:endParaRPr lang="ko-KR" altLang="en-US" sz="1500" dirty="0"/>
          </a:p>
        </p:txBody>
      </p:sp>
      <p:sp>
        <p:nvSpPr>
          <p:cNvPr id="11" name="직사각형 10"/>
          <p:cNvSpPr/>
          <p:nvPr/>
        </p:nvSpPr>
        <p:spPr>
          <a:xfrm>
            <a:off x="98715" y="84447"/>
            <a:ext cx="1545447" cy="414318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b="1" dirty="0" smtClean="0"/>
              <a:t>얽힘</a:t>
            </a:r>
            <a:endParaRPr lang="ko-KR" altLang="en-US" b="1" dirty="0"/>
          </a:p>
        </p:txBody>
      </p:sp>
    </p:spTree>
    <p:extLst>
      <p:ext uri="{BB962C8B-B14F-4D97-AF65-F5344CB8AC3E}">
        <p14:creationId xmlns:p14="http://schemas.microsoft.com/office/powerpoint/2010/main" val="245114101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타원 4"/>
          <p:cNvSpPr/>
          <p:nvPr/>
        </p:nvSpPr>
        <p:spPr>
          <a:xfrm>
            <a:off x="3025370" y="1750775"/>
            <a:ext cx="4653517" cy="4298702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0" name="타원 9"/>
          <p:cNvSpPr/>
          <p:nvPr/>
        </p:nvSpPr>
        <p:spPr>
          <a:xfrm>
            <a:off x="4393037" y="3801946"/>
            <a:ext cx="964222" cy="880695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3800" dirty="0"/>
          </a:p>
        </p:txBody>
      </p:sp>
      <p:sp>
        <p:nvSpPr>
          <p:cNvPr id="13" name="직사각형 12"/>
          <p:cNvSpPr/>
          <p:nvPr/>
        </p:nvSpPr>
        <p:spPr>
          <a:xfrm>
            <a:off x="4688311" y="4196134"/>
            <a:ext cx="373673" cy="9231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4" name="직사각형 13"/>
          <p:cNvSpPr/>
          <p:nvPr/>
        </p:nvSpPr>
        <p:spPr>
          <a:xfrm rot="5400000">
            <a:off x="4688310" y="4196134"/>
            <a:ext cx="373673" cy="9231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5" name="타원 14"/>
          <p:cNvSpPr/>
          <p:nvPr/>
        </p:nvSpPr>
        <p:spPr>
          <a:xfrm>
            <a:off x="8801098" y="567106"/>
            <a:ext cx="589084" cy="545122"/>
          </a:xfrm>
          <a:prstGeom prst="ellipse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3800" dirty="0"/>
          </a:p>
        </p:txBody>
      </p:sp>
      <p:sp>
        <p:nvSpPr>
          <p:cNvPr id="16" name="직사각형 15"/>
          <p:cNvSpPr/>
          <p:nvPr/>
        </p:nvSpPr>
        <p:spPr>
          <a:xfrm>
            <a:off x="8924190" y="791309"/>
            <a:ext cx="373673" cy="9231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7" name="오른쪽 화살표 16"/>
          <p:cNvSpPr/>
          <p:nvPr/>
        </p:nvSpPr>
        <p:spPr>
          <a:xfrm rot="8467233">
            <a:off x="8073613" y="1213338"/>
            <a:ext cx="720727" cy="275904"/>
          </a:xfrm>
          <a:prstGeom prst="rightArrow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8" name="TextBox 17"/>
          <p:cNvSpPr txBox="1"/>
          <p:nvPr/>
        </p:nvSpPr>
        <p:spPr>
          <a:xfrm>
            <a:off x="8801098" y="1236969"/>
            <a:ext cx="3022604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fontAlgn="base"/>
            <a:r>
              <a:rPr lang="ko-KR" altLang="en-US" sz="1500" dirty="0" smtClean="0"/>
              <a:t>양전하 때문에 가까워 짐</a:t>
            </a:r>
            <a:endParaRPr lang="ko-KR" altLang="en-US" sz="1500" dirty="0"/>
          </a:p>
        </p:txBody>
      </p:sp>
      <p:sp>
        <p:nvSpPr>
          <p:cNvPr id="19" name="타원 18"/>
          <p:cNvSpPr/>
          <p:nvPr/>
        </p:nvSpPr>
        <p:spPr>
          <a:xfrm>
            <a:off x="5357256" y="3814407"/>
            <a:ext cx="964222" cy="880695"/>
          </a:xfrm>
          <a:prstGeom prst="ellipse">
            <a:avLst/>
          </a:prstGeom>
          <a:solidFill>
            <a:schemeClr val="accent6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3800" dirty="0"/>
          </a:p>
        </p:txBody>
      </p:sp>
      <p:sp>
        <p:nvSpPr>
          <p:cNvPr id="20" name="타원 19"/>
          <p:cNvSpPr/>
          <p:nvPr/>
        </p:nvSpPr>
        <p:spPr>
          <a:xfrm>
            <a:off x="5354329" y="2922705"/>
            <a:ext cx="964222" cy="880695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3800" dirty="0"/>
          </a:p>
        </p:txBody>
      </p:sp>
      <p:sp>
        <p:nvSpPr>
          <p:cNvPr id="21" name="직사각형 20"/>
          <p:cNvSpPr/>
          <p:nvPr/>
        </p:nvSpPr>
        <p:spPr>
          <a:xfrm>
            <a:off x="5649603" y="3316893"/>
            <a:ext cx="373673" cy="9231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2" name="직사각형 21"/>
          <p:cNvSpPr/>
          <p:nvPr/>
        </p:nvSpPr>
        <p:spPr>
          <a:xfrm rot="5400000">
            <a:off x="5649602" y="3316893"/>
            <a:ext cx="373673" cy="9231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3" name="타원 22"/>
          <p:cNvSpPr/>
          <p:nvPr/>
        </p:nvSpPr>
        <p:spPr>
          <a:xfrm>
            <a:off x="4393037" y="2908790"/>
            <a:ext cx="964222" cy="880695"/>
          </a:xfrm>
          <a:prstGeom prst="ellipse">
            <a:avLst/>
          </a:prstGeom>
          <a:solidFill>
            <a:schemeClr val="accent6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3800" dirty="0"/>
          </a:p>
        </p:txBody>
      </p:sp>
      <p:sp>
        <p:nvSpPr>
          <p:cNvPr id="24" name="타원 23"/>
          <p:cNvSpPr/>
          <p:nvPr/>
        </p:nvSpPr>
        <p:spPr>
          <a:xfrm>
            <a:off x="10005830" y="4777899"/>
            <a:ext cx="964222" cy="880695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3800" dirty="0"/>
          </a:p>
        </p:txBody>
      </p:sp>
      <p:sp>
        <p:nvSpPr>
          <p:cNvPr id="25" name="직사각형 24"/>
          <p:cNvSpPr/>
          <p:nvPr/>
        </p:nvSpPr>
        <p:spPr>
          <a:xfrm>
            <a:off x="10301104" y="5172087"/>
            <a:ext cx="373673" cy="9231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6" name="직사각형 25"/>
          <p:cNvSpPr/>
          <p:nvPr/>
        </p:nvSpPr>
        <p:spPr>
          <a:xfrm rot="5400000">
            <a:off x="10301103" y="5172087"/>
            <a:ext cx="373673" cy="9231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7" name="타원 26"/>
          <p:cNvSpPr/>
          <p:nvPr/>
        </p:nvSpPr>
        <p:spPr>
          <a:xfrm>
            <a:off x="9993186" y="5843602"/>
            <a:ext cx="964222" cy="880695"/>
          </a:xfrm>
          <a:prstGeom prst="ellipse">
            <a:avLst/>
          </a:prstGeom>
          <a:solidFill>
            <a:schemeClr val="accent6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3800" dirty="0"/>
          </a:p>
        </p:txBody>
      </p:sp>
      <p:sp>
        <p:nvSpPr>
          <p:cNvPr id="30" name="타원 29"/>
          <p:cNvSpPr/>
          <p:nvPr/>
        </p:nvSpPr>
        <p:spPr>
          <a:xfrm>
            <a:off x="10171963" y="3944030"/>
            <a:ext cx="589084" cy="545122"/>
          </a:xfrm>
          <a:prstGeom prst="ellipse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3800" dirty="0"/>
          </a:p>
        </p:txBody>
      </p:sp>
      <p:sp>
        <p:nvSpPr>
          <p:cNvPr id="31" name="직사각형 30"/>
          <p:cNvSpPr/>
          <p:nvPr/>
        </p:nvSpPr>
        <p:spPr>
          <a:xfrm>
            <a:off x="10295055" y="4168233"/>
            <a:ext cx="373673" cy="9231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2" name="TextBox 31"/>
          <p:cNvSpPr txBox="1"/>
          <p:nvPr/>
        </p:nvSpPr>
        <p:spPr>
          <a:xfrm>
            <a:off x="10884138" y="4029726"/>
            <a:ext cx="1151519" cy="44627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fontAlgn="base"/>
            <a:r>
              <a:rPr lang="ko-KR" altLang="en-US" sz="2300" b="1" smtClean="0"/>
              <a:t>전자</a:t>
            </a:r>
            <a:endParaRPr lang="ko-KR" altLang="en-US" sz="2300" b="1" dirty="0"/>
          </a:p>
        </p:txBody>
      </p:sp>
      <p:sp>
        <p:nvSpPr>
          <p:cNvPr id="33" name="TextBox 32"/>
          <p:cNvSpPr txBox="1"/>
          <p:nvPr/>
        </p:nvSpPr>
        <p:spPr>
          <a:xfrm>
            <a:off x="10953388" y="4958807"/>
            <a:ext cx="1151519" cy="44627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fontAlgn="base"/>
            <a:r>
              <a:rPr lang="ko-KR" altLang="en-US" sz="2300" b="1" dirty="0" smtClean="0"/>
              <a:t>양성자</a:t>
            </a:r>
            <a:endParaRPr lang="ko-KR" altLang="en-US" sz="2300" b="1" dirty="0"/>
          </a:p>
        </p:txBody>
      </p:sp>
      <p:sp>
        <p:nvSpPr>
          <p:cNvPr id="34" name="TextBox 33"/>
          <p:cNvSpPr txBox="1"/>
          <p:nvPr/>
        </p:nvSpPr>
        <p:spPr>
          <a:xfrm>
            <a:off x="10970052" y="6013218"/>
            <a:ext cx="1151519" cy="44627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fontAlgn="base"/>
            <a:r>
              <a:rPr lang="ko-KR" altLang="en-US" sz="2300" b="1" dirty="0" smtClean="0"/>
              <a:t>중성자</a:t>
            </a:r>
            <a:endParaRPr lang="ko-KR" altLang="en-US" sz="2300" b="1" dirty="0"/>
          </a:p>
        </p:txBody>
      </p:sp>
      <p:sp>
        <p:nvSpPr>
          <p:cNvPr id="28" name="직사각형 27"/>
          <p:cNvSpPr/>
          <p:nvPr/>
        </p:nvSpPr>
        <p:spPr>
          <a:xfrm>
            <a:off x="98715" y="84447"/>
            <a:ext cx="1545447" cy="414318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b="1" dirty="0" smtClean="0"/>
              <a:t>얽힘</a:t>
            </a:r>
            <a:endParaRPr lang="ko-KR" altLang="en-US" b="1" dirty="0"/>
          </a:p>
        </p:txBody>
      </p:sp>
    </p:spTree>
    <p:extLst>
      <p:ext uri="{BB962C8B-B14F-4D97-AF65-F5344CB8AC3E}">
        <p14:creationId xmlns:p14="http://schemas.microsoft.com/office/powerpoint/2010/main" val="121015863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타원 4"/>
          <p:cNvSpPr/>
          <p:nvPr/>
        </p:nvSpPr>
        <p:spPr>
          <a:xfrm>
            <a:off x="3025370" y="1750775"/>
            <a:ext cx="4653517" cy="4298702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0" name="타원 9"/>
          <p:cNvSpPr/>
          <p:nvPr/>
        </p:nvSpPr>
        <p:spPr>
          <a:xfrm>
            <a:off x="4393037" y="3801946"/>
            <a:ext cx="964222" cy="880695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3800" dirty="0"/>
          </a:p>
        </p:txBody>
      </p:sp>
      <p:sp>
        <p:nvSpPr>
          <p:cNvPr id="13" name="직사각형 12"/>
          <p:cNvSpPr/>
          <p:nvPr/>
        </p:nvSpPr>
        <p:spPr>
          <a:xfrm>
            <a:off x="4688311" y="4196134"/>
            <a:ext cx="373673" cy="9231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4" name="직사각형 13"/>
          <p:cNvSpPr/>
          <p:nvPr/>
        </p:nvSpPr>
        <p:spPr>
          <a:xfrm rot="5400000">
            <a:off x="4688310" y="4196134"/>
            <a:ext cx="373673" cy="9231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5" name="타원 14"/>
          <p:cNvSpPr/>
          <p:nvPr/>
        </p:nvSpPr>
        <p:spPr>
          <a:xfrm>
            <a:off x="6690944" y="2079383"/>
            <a:ext cx="589084" cy="545122"/>
          </a:xfrm>
          <a:prstGeom prst="ellipse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3800" dirty="0"/>
          </a:p>
        </p:txBody>
      </p:sp>
      <p:sp>
        <p:nvSpPr>
          <p:cNvPr id="16" name="직사각형 15"/>
          <p:cNvSpPr/>
          <p:nvPr/>
        </p:nvSpPr>
        <p:spPr>
          <a:xfrm>
            <a:off x="6814036" y="2303586"/>
            <a:ext cx="373673" cy="9231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9" name="타원 18"/>
          <p:cNvSpPr/>
          <p:nvPr/>
        </p:nvSpPr>
        <p:spPr>
          <a:xfrm>
            <a:off x="5357256" y="3814407"/>
            <a:ext cx="964222" cy="880695"/>
          </a:xfrm>
          <a:prstGeom prst="ellipse">
            <a:avLst/>
          </a:prstGeom>
          <a:solidFill>
            <a:schemeClr val="accent6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3800" dirty="0"/>
          </a:p>
        </p:txBody>
      </p:sp>
      <p:sp>
        <p:nvSpPr>
          <p:cNvPr id="20" name="타원 19"/>
          <p:cNvSpPr/>
          <p:nvPr/>
        </p:nvSpPr>
        <p:spPr>
          <a:xfrm>
            <a:off x="5354329" y="2922705"/>
            <a:ext cx="964222" cy="880695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3800" dirty="0"/>
          </a:p>
        </p:txBody>
      </p:sp>
      <p:sp>
        <p:nvSpPr>
          <p:cNvPr id="21" name="직사각형 20"/>
          <p:cNvSpPr/>
          <p:nvPr/>
        </p:nvSpPr>
        <p:spPr>
          <a:xfrm>
            <a:off x="5649603" y="3316893"/>
            <a:ext cx="373673" cy="9231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2" name="직사각형 21"/>
          <p:cNvSpPr/>
          <p:nvPr/>
        </p:nvSpPr>
        <p:spPr>
          <a:xfrm rot="5400000">
            <a:off x="5649602" y="3316893"/>
            <a:ext cx="373673" cy="9231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3" name="타원 22"/>
          <p:cNvSpPr/>
          <p:nvPr/>
        </p:nvSpPr>
        <p:spPr>
          <a:xfrm>
            <a:off x="4393037" y="2908790"/>
            <a:ext cx="964222" cy="880695"/>
          </a:xfrm>
          <a:prstGeom prst="ellipse">
            <a:avLst/>
          </a:prstGeom>
          <a:solidFill>
            <a:schemeClr val="accent6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3800" dirty="0"/>
          </a:p>
        </p:txBody>
      </p:sp>
      <p:sp>
        <p:nvSpPr>
          <p:cNvPr id="24" name="타원 23"/>
          <p:cNvSpPr/>
          <p:nvPr/>
        </p:nvSpPr>
        <p:spPr>
          <a:xfrm>
            <a:off x="10005830" y="4777899"/>
            <a:ext cx="964222" cy="880695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3800" dirty="0"/>
          </a:p>
        </p:txBody>
      </p:sp>
      <p:sp>
        <p:nvSpPr>
          <p:cNvPr id="25" name="직사각형 24"/>
          <p:cNvSpPr/>
          <p:nvPr/>
        </p:nvSpPr>
        <p:spPr>
          <a:xfrm>
            <a:off x="10301104" y="5172087"/>
            <a:ext cx="373673" cy="9231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6" name="직사각형 25"/>
          <p:cNvSpPr/>
          <p:nvPr/>
        </p:nvSpPr>
        <p:spPr>
          <a:xfrm rot="5400000">
            <a:off x="10301103" y="5172087"/>
            <a:ext cx="373673" cy="9231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7" name="타원 26"/>
          <p:cNvSpPr/>
          <p:nvPr/>
        </p:nvSpPr>
        <p:spPr>
          <a:xfrm>
            <a:off x="9993186" y="5843602"/>
            <a:ext cx="964222" cy="880695"/>
          </a:xfrm>
          <a:prstGeom prst="ellipse">
            <a:avLst/>
          </a:prstGeom>
          <a:solidFill>
            <a:schemeClr val="accent6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3800" dirty="0"/>
          </a:p>
        </p:txBody>
      </p:sp>
      <p:sp>
        <p:nvSpPr>
          <p:cNvPr id="30" name="타원 29"/>
          <p:cNvSpPr/>
          <p:nvPr/>
        </p:nvSpPr>
        <p:spPr>
          <a:xfrm>
            <a:off x="10171963" y="3944030"/>
            <a:ext cx="589084" cy="545122"/>
          </a:xfrm>
          <a:prstGeom prst="ellipse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3800" dirty="0"/>
          </a:p>
        </p:txBody>
      </p:sp>
      <p:sp>
        <p:nvSpPr>
          <p:cNvPr id="31" name="직사각형 30"/>
          <p:cNvSpPr/>
          <p:nvPr/>
        </p:nvSpPr>
        <p:spPr>
          <a:xfrm>
            <a:off x="10295055" y="4168233"/>
            <a:ext cx="373673" cy="9231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2" name="TextBox 31"/>
          <p:cNvSpPr txBox="1"/>
          <p:nvPr/>
        </p:nvSpPr>
        <p:spPr>
          <a:xfrm>
            <a:off x="10884138" y="4029726"/>
            <a:ext cx="1151519" cy="44627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fontAlgn="base"/>
            <a:r>
              <a:rPr lang="ko-KR" altLang="en-US" sz="2300" b="1" smtClean="0"/>
              <a:t>전자</a:t>
            </a:r>
            <a:endParaRPr lang="ko-KR" altLang="en-US" sz="2300" b="1" dirty="0"/>
          </a:p>
        </p:txBody>
      </p:sp>
      <p:sp>
        <p:nvSpPr>
          <p:cNvPr id="33" name="TextBox 32"/>
          <p:cNvSpPr txBox="1"/>
          <p:nvPr/>
        </p:nvSpPr>
        <p:spPr>
          <a:xfrm>
            <a:off x="10953388" y="4958807"/>
            <a:ext cx="1151519" cy="44627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fontAlgn="base"/>
            <a:r>
              <a:rPr lang="ko-KR" altLang="en-US" sz="2300" b="1" dirty="0" smtClean="0"/>
              <a:t>양성자</a:t>
            </a:r>
            <a:endParaRPr lang="ko-KR" altLang="en-US" sz="2300" b="1" dirty="0"/>
          </a:p>
        </p:txBody>
      </p:sp>
      <p:sp>
        <p:nvSpPr>
          <p:cNvPr id="34" name="TextBox 33"/>
          <p:cNvSpPr txBox="1"/>
          <p:nvPr/>
        </p:nvSpPr>
        <p:spPr>
          <a:xfrm>
            <a:off x="10970052" y="6013218"/>
            <a:ext cx="1151519" cy="44627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fontAlgn="base"/>
            <a:r>
              <a:rPr lang="ko-KR" altLang="en-US" sz="2300" b="1" dirty="0" smtClean="0"/>
              <a:t>중성자</a:t>
            </a:r>
            <a:endParaRPr lang="ko-KR" altLang="en-US" sz="2300" b="1" dirty="0"/>
          </a:p>
        </p:txBody>
      </p:sp>
      <p:sp>
        <p:nvSpPr>
          <p:cNvPr id="28" name="직사각형 27"/>
          <p:cNvSpPr/>
          <p:nvPr/>
        </p:nvSpPr>
        <p:spPr>
          <a:xfrm>
            <a:off x="98715" y="84447"/>
            <a:ext cx="1545447" cy="414318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b="1" dirty="0" smtClean="0"/>
              <a:t>얽힘</a:t>
            </a:r>
            <a:endParaRPr lang="ko-KR" altLang="en-US" b="1" dirty="0"/>
          </a:p>
        </p:txBody>
      </p:sp>
    </p:spTree>
    <p:extLst>
      <p:ext uri="{BB962C8B-B14F-4D97-AF65-F5344CB8AC3E}">
        <p14:creationId xmlns:p14="http://schemas.microsoft.com/office/powerpoint/2010/main" val="296512410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타원 4"/>
          <p:cNvSpPr/>
          <p:nvPr/>
        </p:nvSpPr>
        <p:spPr>
          <a:xfrm>
            <a:off x="3025370" y="1750775"/>
            <a:ext cx="4653517" cy="4298702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0" name="타원 9"/>
          <p:cNvSpPr/>
          <p:nvPr/>
        </p:nvSpPr>
        <p:spPr>
          <a:xfrm>
            <a:off x="4393037" y="3801946"/>
            <a:ext cx="964222" cy="880695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3800" dirty="0"/>
          </a:p>
        </p:txBody>
      </p:sp>
      <p:sp>
        <p:nvSpPr>
          <p:cNvPr id="13" name="직사각형 12"/>
          <p:cNvSpPr/>
          <p:nvPr/>
        </p:nvSpPr>
        <p:spPr>
          <a:xfrm>
            <a:off x="4688311" y="4196134"/>
            <a:ext cx="373673" cy="9231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4" name="직사각형 13"/>
          <p:cNvSpPr/>
          <p:nvPr/>
        </p:nvSpPr>
        <p:spPr>
          <a:xfrm rot="5400000">
            <a:off x="4688310" y="4196134"/>
            <a:ext cx="373673" cy="9231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5" name="타원 14"/>
          <p:cNvSpPr/>
          <p:nvPr/>
        </p:nvSpPr>
        <p:spPr>
          <a:xfrm>
            <a:off x="6690944" y="2079383"/>
            <a:ext cx="589084" cy="545122"/>
          </a:xfrm>
          <a:prstGeom prst="ellipse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3800" dirty="0"/>
          </a:p>
        </p:txBody>
      </p:sp>
      <p:sp>
        <p:nvSpPr>
          <p:cNvPr id="16" name="직사각형 15"/>
          <p:cNvSpPr/>
          <p:nvPr/>
        </p:nvSpPr>
        <p:spPr>
          <a:xfrm>
            <a:off x="6814036" y="2303586"/>
            <a:ext cx="373673" cy="9231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9" name="타원 18"/>
          <p:cNvSpPr/>
          <p:nvPr/>
        </p:nvSpPr>
        <p:spPr>
          <a:xfrm>
            <a:off x="5357256" y="3814407"/>
            <a:ext cx="964222" cy="880695"/>
          </a:xfrm>
          <a:prstGeom prst="ellipse">
            <a:avLst/>
          </a:prstGeom>
          <a:solidFill>
            <a:schemeClr val="accent6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3800" dirty="0"/>
          </a:p>
        </p:txBody>
      </p:sp>
      <p:sp>
        <p:nvSpPr>
          <p:cNvPr id="20" name="타원 19"/>
          <p:cNvSpPr/>
          <p:nvPr/>
        </p:nvSpPr>
        <p:spPr>
          <a:xfrm>
            <a:off x="5354329" y="2922705"/>
            <a:ext cx="964222" cy="880695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3800" dirty="0"/>
          </a:p>
        </p:txBody>
      </p:sp>
      <p:sp>
        <p:nvSpPr>
          <p:cNvPr id="21" name="직사각형 20"/>
          <p:cNvSpPr/>
          <p:nvPr/>
        </p:nvSpPr>
        <p:spPr>
          <a:xfrm>
            <a:off x="5649603" y="3316893"/>
            <a:ext cx="373673" cy="9231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2" name="직사각형 21"/>
          <p:cNvSpPr/>
          <p:nvPr/>
        </p:nvSpPr>
        <p:spPr>
          <a:xfrm rot="5400000">
            <a:off x="5649602" y="3316893"/>
            <a:ext cx="373673" cy="9231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3" name="타원 22"/>
          <p:cNvSpPr/>
          <p:nvPr/>
        </p:nvSpPr>
        <p:spPr>
          <a:xfrm>
            <a:off x="4393037" y="2908790"/>
            <a:ext cx="964222" cy="880695"/>
          </a:xfrm>
          <a:prstGeom prst="ellipse">
            <a:avLst/>
          </a:prstGeom>
          <a:solidFill>
            <a:schemeClr val="accent6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3800" dirty="0"/>
          </a:p>
        </p:txBody>
      </p:sp>
      <p:sp>
        <p:nvSpPr>
          <p:cNvPr id="24" name="타원 23"/>
          <p:cNvSpPr/>
          <p:nvPr/>
        </p:nvSpPr>
        <p:spPr>
          <a:xfrm>
            <a:off x="10005830" y="4777899"/>
            <a:ext cx="964222" cy="880695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3800" dirty="0"/>
          </a:p>
        </p:txBody>
      </p:sp>
      <p:sp>
        <p:nvSpPr>
          <p:cNvPr id="25" name="직사각형 24"/>
          <p:cNvSpPr/>
          <p:nvPr/>
        </p:nvSpPr>
        <p:spPr>
          <a:xfrm>
            <a:off x="10301104" y="5172087"/>
            <a:ext cx="373673" cy="9231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6" name="직사각형 25"/>
          <p:cNvSpPr/>
          <p:nvPr/>
        </p:nvSpPr>
        <p:spPr>
          <a:xfrm rot="5400000">
            <a:off x="10301103" y="5172087"/>
            <a:ext cx="373673" cy="9231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7" name="타원 26"/>
          <p:cNvSpPr/>
          <p:nvPr/>
        </p:nvSpPr>
        <p:spPr>
          <a:xfrm>
            <a:off x="9993186" y="5843602"/>
            <a:ext cx="964222" cy="880695"/>
          </a:xfrm>
          <a:prstGeom prst="ellipse">
            <a:avLst/>
          </a:prstGeom>
          <a:solidFill>
            <a:schemeClr val="accent6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3800" dirty="0"/>
          </a:p>
        </p:txBody>
      </p:sp>
      <p:sp>
        <p:nvSpPr>
          <p:cNvPr id="30" name="타원 29"/>
          <p:cNvSpPr/>
          <p:nvPr/>
        </p:nvSpPr>
        <p:spPr>
          <a:xfrm>
            <a:off x="10171963" y="3944030"/>
            <a:ext cx="589084" cy="545122"/>
          </a:xfrm>
          <a:prstGeom prst="ellipse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3800" dirty="0"/>
          </a:p>
        </p:txBody>
      </p:sp>
      <p:sp>
        <p:nvSpPr>
          <p:cNvPr id="31" name="직사각형 30"/>
          <p:cNvSpPr/>
          <p:nvPr/>
        </p:nvSpPr>
        <p:spPr>
          <a:xfrm>
            <a:off x="10295055" y="4168233"/>
            <a:ext cx="373673" cy="9231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2" name="TextBox 31"/>
          <p:cNvSpPr txBox="1"/>
          <p:nvPr/>
        </p:nvSpPr>
        <p:spPr>
          <a:xfrm>
            <a:off x="10884138" y="4029726"/>
            <a:ext cx="1151519" cy="44627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fontAlgn="base"/>
            <a:r>
              <a:rPr lang="ko-KR" altLang="en-US" sz="2300" b="1" smtClean="0"/>
              <a:t>전자</a:t>
            </a:r>
            <a:endParaRPr lang="ko-KR" altLang="en-US" sz="2300" b="1" dirty="0"/>
          </a:p>
        </p:txBody>
      </p:sp>
      <p:sp>
        <p:nvSpPr>
          <p:cNvPr id="33" name="TextBox 32"/>
          <p:cNvSpPr txBox="1"/>
          <p:nvPr/>
        </p:nvSpPr>
        <p:spPr>
          <a:xfrm>
            <a:off x="10953388" y="4958807"/>
            <a:ext cx="1151519" cy="44627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fontAlgn="base"/>
            <a:r>
              <a:rPr lang="ko-KR" altLang="en-US" sz="2300" b="1" dirty="0" smtClean="0"/>
              <a:t>양성자</a:t>
            </a:r>
            <a:endParaRPr lang="ko-KR" altLang="en-US" sz="2300" b="1" dirty="0"/>
          </a:p>
        </p:txBody>
      </p:sp>
      <p:sp>
        <p:nvSpPr>
          <p:cNvPr id="34" name="TextBox 33"/>
          <p:cNvSpPr txBox="1"/>
          <p:nvPr/>
        </p:nvSpPr>
        <p:spPr>
          <a:xfrm>
            <a:off x="10970052" y="6013218"/>
            <a:ext cx="1151519" cy="44627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fontAlgn="base"/>
            <a:r>
              <a:rPr lang="ko-KR" altLang="en-US" sz="2300" b="1" dirty="0" smtClean="0"/>
              <a:t>중성자</a:t>
            </a:r>
            <a:endParaRPr lang="ko-KR" altLang="en-US" sz="2300" b="1" dirty="0"/>
          </a:p>
        </p:txBody>
      </p:sp>
      <p:sp>
        <p:nvSpPr>
          <p:cNvPr id="28" name="타원 27"/>
          <p:cNvSpPr/>
          <p:nvPr/>
        </p:nvSpPr>
        <p:spPr>
          <a:xfrm>
            <a:off x="8801098" y="567106"/>
            <a:ext cx="589084" cy="545122"/>
          </a:xfrm>
          <a:prstGeom prst="ellipse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3800" dirty="0"/>
          </a:p>
        </p:txBody>
      </p:sp>
      <p:sp>
        <p:nvSpPr>
          <p:cNvPr id="29" name="직사각형 28"/>
          <p:cNvSpPr/>
          <p:nvPr/>
        </p:nvSpPr>
        <p:spPr>
          <a:xfrm>
            <a:off x="8924190" y="791309"/>
            <a:ext cx="373673" cy="9231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5" name="오른쪽 화살표 34"/>
          <p:cNvSpPr/>
          <p:nvPr/>
        </p:nvSpPr>
        <p:spPr>
          <a:xfrm rot="8467233">
            <a:off x="8073613" y="1213338"/>
            <a:ext cx="720727" cy="275904"/>
          </a:xfrm>
          <a:prstGeom prst="rightArrow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6" name="TextBox 35"/>
          <p:cNvSpPr txBox="1"/>
          <p:nvPr/>
        </p:nvSpPr>
        <p:spPr>
          <a:xfrm>
            <a:off x="8801098" y="1236969"/>
            <a:ext cx="3022604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fontAlgn="base"/>
            <a:r>
              <a:rPr lang="ko-KR" altLang="en-US" sz="1500" dirty="0" smtClean="0"/>
              <a:t>양전하 때문에 가까워 짐</a:t>
            </a:r>
            <a:endParaRPr lang="ko-KR" altLang="en-US" sz="1500" dirty="0"/>
          </a:p>
        </p:txBody>
      </p:sp>
      <p:sp>
        <p:nvSpPr>
          <p:cNvPr id="37" name="직사각형 36"/>
          <p:cNvSpPr/>
          <p:nvPr/>
        </p:nvSpPr>
        <p:spPr>
          <a:xfrm>
            <a:off x="98715" y="84447"/>
            <a:ext cx="1545447" cy="414318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b="1" dirty="0" smtClean="0"/>
              <a:t>얽힘</a:t>
            </a:r>
            <a:endParaRPr lang="ko-KR" altLang="en-US" b="1" dirty="0"/>
          </a:p>
        </p:txBody>
      </p:sp>
    </p:spTree>
    <p:extLst>
      <p:ext uri="{BB962C8B-B14F-4D97-AF65-F5344CB8AC3E}">
        <p14:creationId xmlns:p14="http://schemas.microsoft.com/office/powerpoint/2010/main" val="239577947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타원 4"/>
          <p:cNvSpPr/>
          <p:nvPr/>
        </p:nvSpPr>
        <p:spPr>
          <a:xfrm>
            <a:off x="3025370" y="1750775"/>
            <a:ext cx="4653517" cy="4298702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0" name="타원 9"/>
          <p:cNvSpPr/>
          <p:nvPr/>
        </p:nvSpPr>
        <p:spPr>
          <a:xfrm>
            <a:off x="4393037" y="3801946"/>
            <a:ext cx="964222" cy="880695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3800" dirty="0"/>
          </a:p>
        </p:txBody>
      </p:sp>
      <p:sp>
        <p:nvSpPr>
          <p:cNvPr id="13" name="직사각형 12"/>
          <p:cNvSpPr/>
          <p:nvPr/>
        </p:nvSpPr>
        <p:spPr>
          <a:xfrm>
            <a:off x="4688311" y="4196134"/>
            <a:ext cx="373673" cy="9231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4" name="직사각형 13"/>
          <p:cNvSpPr/>
          <p:nvPr/>
        </p:nvSpPr>
        <p:spPr>
          <a:xfrm rot="5400000">
            <a:off x="4688310" y="4196134"/>
            <a:ext cx="373673" cy="9231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5" name="타원 14"/>
          <p:cNvSpPr/>
          <p:nvPr/>
        </p:nvSpPr>
        <p:spPr>
          <a:xfrm>
            <a:off x="6690944" y="2079383"/>
            <a:ext cx="589084" cy="545122"/>
          </a:xfrm>
          <a:prstGeom prst="ellipse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3800" dirty="0"/>
          </a:p>
        </p:txBody>
      </p:sp>
      <p:sp>
        <p:nvSpPr>
          <p:cNvPr id="16" name="직사각형 15"/>
          <p:cNvSpPr/>
          <p:nvPr/>
        </p:nvSpPr>
        <p:spPr>
          <a:xfrm>
            <a:off x="6814036" y="2303586"/>
            <a:ext cx="373673" cy="9231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9" name="타원 18"/>
          <p:cNvSpPr/>
          <p:nvPr/>
        </p:nvSpPr>
        <p:spPr>
          <a:xfrm>
            <a:off x="5357256" y="3814407"/>
            <a:ext cx="964222" cy="880695"/>
          </a:xfrm>
          <a:prstGeom prst="ellipse">
            <a:avLst/>
          </a:prstGeom>
          <a:solidFill>
            <a:schemeClr val="accent6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3800" dirty="0"/>
          </a:p>
        </p:txBody>
      </p:sp>
      <p:sp>
        <p:nvSpPr>
          <p:cNvPr id="20" name="타원 19"/>
          <p:cNvSpPr/>
          <p:nvPr/>
        </p:nvSpPr>
        <p:spPr>
          <a:xfrm>
            <a:off x="5354329" y="2922705"/>
            <a:ext cx="964222" cy="880695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3800" dirty="0"/>
          </a:p>
        </p:txBody>
      </p:sp>
      <p:sp>
        <p:nvSpPr>
          <p:cNvPr id="21" name="직사각형 20"/>
          <p:cNvSpPr/>
          <p:nvPr/>
        </p:nvSpPr>
        <p:spPr>
          <a:xfrm>
            <a:off x="5649603" y="3316893"/>
            <a:ext cx="373673" cy="9231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2" name="직사각형 21"/>
          <p:cNvSpPr/>
          <p:nvPr/>
        </p:nvSpPr>
        <p:spPr>
          <a:xfrm rot="5400000">
            <a:off x="5649602" y="3316893"/>
            <a:ext cx="373673" cy="9231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3" name="타원 22"/>
          <p:cNvSpPr/>
          <p:nvPr/>
        </p:nvSpPr>
        <p:spPr>
          <a:xfrm>
            <a:off x="4393037" y="2908790"/>
            <a:ext cx="964222" cy="880695"/>
          </a:xfrm>
          <a:prstGeom prst="ellipse">
            <a:avLst/>
          </a:prstGeom>
          <a:solidFill>
            <a:schemeClr val="accent6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3800" dirty="0"/>
          </a:p>
        </p:txBody>
      </p:sp>
      <p:sp>
        <p:nvSpPr>
          <p:cNvPr id="24" name="타원 23"/>
          <p:cNvSpPr/>
          <p:nvPr/>
        </p:nvSpPr>
        <p:spPr>
          <a:xfrm>
            <a:off x="10005830" y="4777899"/>
            <a:ext cx="964222" cy="880695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3800" dirty="0"/>
          </a:p>
        </p:txBody>
      </p:sp>
      <p:sp>
        <p:nvSpPr>
          <p:cNvPr id="25" name="직사각형 24"/>
          <p:cNvSpPr/>
          <p:nvPr/>
        </p:nvSpPr>
        <p:spPr>
          <a:xfrm>
            <a:off x="10301104" y="5172087"/>
            <a:ext cx="373673" cy="9231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6" name="직사각형 25"/>
          <p:cNvSpPr/>
          <p:nvPr/>
        </p:nvSpPr>
        <p:spPr>
          <a:xfrm rot="5400000">
            <a:off x="10301103" y="5172087"/>
            <a:ext cx="373673" cy="9231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7" name="타원 26"/>
          <p:cNvSpPr/>
          <p:nvPr/>
        </p:nvSpPr>
        <p:spPr>
          <a:xfrm>
            <a:off x="9993186" y="5843602"/>
            <a:ext cx="964222" cy="880695"/>
          </a:xfrm>
          <a:prstGeom prst="ellipse">
            <a:avLst/>
          </a:prstGeom>
          <a:solidFill>
            <a:schemeClr val="accent6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3800" dirty="0"/>
          </a:p>
        </p:txBody>
      </p:sp>
      <p:sp>
        <p:nvSpPr>
          <p:cNvPr id="30" name="타원 29"/>
          <p:cNvSpPr/>
          <p:nvPr/>
        </p:nvSpPr>
        <p:spPr>
          <a:xfrm>
            <a:off x="10171963" y="3944030"/>
            <a:ext cx="589084" cy="545122"/>
          </a:xfrm>
          <a:prstGeom prst="ellipse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3800" dirty="0"/>
          </a:p>
        </p:txBody>
      </p:sp>
      <p:sp>
        <p:nvSpPr>
          <p:cNvPr id="31" name="직사각형 30"/>
          <p:cNvSpPr/>
          <p:nvPr/>
        </p:nvSpPr>
        <p:spPr>
          <a:xfrm>
            <a:off x="10295055" y="4168233"/>
            <a:ext cx="373673" cy="9231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2" name="TextBox 31"/>
          <p:cNvSpPr txBox="1"/>
          <p:nvPr/>
        </p:nvSpPr>
        <p:spPr>
          <a:xfrm>
            <a:off x="10884138" y="4029726"/>
            <a:ext cx="1151519" cy="44627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fontAlgn="base"/>
            <a:r>
              <a:rPr lang="ko-KR" altLang="en-US" sz="2300" b="1" smtClean="0"/>
              <a:t>전자</a:t>
            </a:r>
            <a:endParaRPr lang="ko-KR" altLang="en-US" sz="2300" b="1" dirty="0"/>
          </a:p>
        </p:txBody>
      </p:sp>
      <p:sp>
        <p:nvSpPr>
          <p:cNvPr id="33" name="TextBox 32"/>
          <p:cNvSpPr txBox="1"/>
          <p:nvPr/>
        </p:nvSpPr>
        <p:spPr>
          <a:xfrm>
            <a:off x="10953388" y="4958807"/>
            <a:ext cx="1151519" cy="44627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fontAlgn="base"/>
            <a:r>
              <a:rPr lang="ko-KR" altLang="en-US" sz="2300" b="1" dirty="0" smtClean="0"/>
              <a:t>양성자</a:t>
            </a:r>
            <a:endParaRPr lang="ko-KR" altLang="en-US" sz="2300" b="1" dirty="0"/>
          </a:p>
        </p:txBody>
      </p:sp>
      <p:sp>
        <p:nvSpPr>
          <p:cNvPr id="34" name="TextBox 33"/>
          <p:cNvSpPr txBox="1"/>
          <p:nvPr/>
        </p:nvSpPr>
        <p:spPr>
          <a:xfrm>
            <a:off x="10970052" y="6013218"/>
            <a:ext cx="1151519" cy="44627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fontAlgn="base"/>
            <a:r>
              <a:rPr lang="ko-KR" altLang="en-US" sz="2300" b="1" dirty="0" smtClean="0"/>
              <a:t>중성자</a:t>
            </a:r>
            <a:endParaRPr lang="ko-KR" altLang="en-US" sz="2300" b="1" dirty="0"/>
          </a:p>
        </p:txBody>
      </p:sp>
      <p:sp>
        <p:nvSpPr>
          <p:cNvPr id="28" name="타원 27"/>
          <p:cNvSpPr/>
          <p:nvPr/>
        </p:nvSpPr>
        <p:spPr>
          <a:xfrm>
            <a:off x="7678887" y="1337906"/>
            <a:ext cx="589084" cy="545122"/>
          </a:xfrm>
          <a:prstGeom prst="ellipse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3800" dirty="0"/>
          </a:p>
        </p:txBody>
      </p:sp>
      <p:sp>
        <p:nvSpPr>
          <p:cNvPr id="29" name="직사각형 28"/>
          <p:cNvSpPr/>
          <p:nvPr/>
        </p:nvSpPr>
        <p:spPr>
          <a:xfrm>
            <a:off x="7801979" y="1562109"/>
            <a:ext cx="373673" cy="9231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6" name="TextBox 35"/>
          <p:cNvSpPr txBox="1"/>
          <p:nvPr/>
        </p:nvSpPr>
        <p:spPr>
          <a:xfrm>
            <a:off x="7567001" y="2157741"/>
            <a:ext cx="1999030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fontAlgn="base"/>
            <a:r>
              <a:rPr lang="ko-KR" altLang="en-US" sz="1500" dirty="0" smtClean="0"/>
              <a:t>음전하 끼리 밀어냄</a:t>
            </a:r>
            <a:endParaRPr lang="ko-KR" altLang="en-US" sz="1500" dirty="0"/>
          </a:p>
        </p:txBody>
      </p:sp>
      <p:sp>
        <p:nvSpPr>
          <p:cNvPr id="2" name="왼쪽/오른쪽 화살표 1"/>
          <p:cNvSpPr/>
          <p:nvPr/>
        </p:nvSpPr>
        <p:spPr>
          <a:xfrm rot="19423852">
            <a:off x="7211307" y="1870474"/>
            <a:ext cx="597333" cy="275420"/>
          </a:xfrm>
          <a:prstGeom prst="leftRightArrow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5" name="직사각형 34"/>
          <p:cNvSpPr/>
          <p:nvPr/>
        </p:nvSpPr>
        <p:spPr>
          <a:xfrm>
            <a:off x="98715" y="84447"/>
            <a:ext cx="1545447" cy="414318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b="1" dirty="0" smtClean="0"/>
              <a:t>얽힘</a:t>
            </a:r>
            <a:endParaRPr lang="ko-KR" altLang="en-US" b="1" dirty="0"/>
          </a:p>
        </p:txBody>
      </p:sp>
    </p:spTree>
    <p:extLst>
      <p:ext uri="{BB962C8B-B14F-4D97-AF65-F5344CB8AC3E}">
        <p14:creationId xmlns:p14="http://schemas.microsoft.com/office/powerpoint/2010/main" val="429495745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타원 4"/>
          <p:cNvSpPr/>
          <p:nvPr/>
        </p:nvSpPr>
        <p:spPr>
          <a:xfrm>
            <a:off x="3025370" y="1750775"/>
            <a:ext cx="4653517" cy="4298702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0" name="타원 9"/>
          <p:cNvSpPr/>
          <p:nvPr/>
        </p:nvSpPr>
        <p:spPr>
          <a:xfrm>
            <a:off x="4393037" y="3801946"/>
            <a:ext cx="964222" cy="880695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3800" dirty="0"/>
          </a:p>
        </p:txBody>
      </p:sp>
      <p:sp>
        <p:nvSpPr>
          <p:cNvPr id="13" name="직사각형 12"/>
          <p:cNvSpPr/>
          <p:nvPr/>
        </p:nvSpPr>
        <p:spPr>
          <a:xfrm>
            <a:off x="4688311" y="4196134"/>
            <a:ext cx="373673" cy="9231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4" name="직사각형 13"/>
          <p:cNvSpPr/>
          <p:nvPr/>
        </p:nvSpPr>
        <p:spPr>
          <a:xfrm rot="5400000">
            <a:off x="4688310" y="4196134"/>
            <a:ext cx="373673" cy="9231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5" name="타원 14"/>
          <p:cNvSpPr/>
          <p:nvPr/>
        </p:nvSpPr>
        <p:spPr>
          <a:xfrm>
            <a:off x="6690944" y="2079383"/>
            <a:ext cx="589084" cy="545122"/>
          </a:xfrm>
          <a:prstGeom prst="ellipse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3800" dirty="0"/>
          </a:p>
        </p:txBody>
      </p:sp>
      <p:sp>
        <p:nvSpPr>
          <p:cNvPr id="16" name="직사각형 15"/>
          <p:cNvSpPr/>
          <p:nvPr/>
        </p:nvSpPr>
        <p:spPr>
          <a:xfrm>
            <a:off x="6814036" y="2303586"/>
            <a:ext cx="373673" cy="9231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9" name="타원 18"/>
          <p:cNvSpPr/>
          <p:nvPr/>
        </p:nvSpPr>
        <p:spPr>
          <a:xfrm>
            <a:off x="5357256" y="3814407"/>
            <a:ext cx="964222" cy="880695"/>
          </a:xfrm>
          <a:prstGeom prst="ellipse">
            <a:avLst/>
          </a:prstGeom>
          <a:solidFill>
            <a:schemeClr val="accent6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3800" dirty="0"/>
          </a:p>
        </p:txBody>
      </p:sp>
      <p:sp>
        <p:nvSpPr>
          <p:cNvPr id="20" name="타원 19"/>
          <p:cNvSpPr/>
          <p:nvPr/>
        </p:nvSpPr>
        <p:spPr>
          <a:xfrm>
            <a:off x="5354329" y="2922705"/>
            <a:ext cx="964222" cy="880695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3800" dirty="0"/>
          </a:p>
        </p:txBody>
      </p:sp>
      <p:sp>
        <p:nvSpPr>
          <p:cNvPr id="21" name="직사각형 20"/>
          <p:cNvSpPr/>
          <p:nvPr/>
        </p:nvSpPr>
        <p:spPr>
          <a:xfrm>
            <a:off x="5649603" y="3316893"/>
            <a:ext cx="373673" cy="9231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2" name="직사각형 21"/>
          <p:cNvSpPr/>
          <p:nvPr/>
        </p:nvSpPr>
        <p:spPr>
          <a:xfrm rot="5400000">
            <a:off x="5649602" y="3316893"/>
            <a:ext cx="373673" cy="9231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3" name="타원 22"/>
          <p:cNvSpPr/>
          <p:nvPr/>
        </p:nvSpPr>
        <p:spPr>
          <a:xfrm>
            <a:off x="4393037" y="2908790"/>
            <a:ext cx="964222" cy="880695"/>
          </a:xfrm>
          <a:prstGeom prst="ellipse">
            <a:avLst/>
          </a:prstGeom>
          <a:solidFill>
            <a:schemeClr val="accent6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3800" dirty="0"/>
          </a:p>
        </p:txBody>
      </p:sp>
      <p:sp>
        <p:nvSpPr>
          <p:cNvPr id="24" name="타원 23"/>
          <p:cNvSpPr/>
          <p:nvPr/>
        </p:nvSpPr>
        <p:spPr>
          <a:xfrm>
            <a:off x="10005830" y="4777899"/>
            <a:ext cx="964222" cy="880695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3800" dirty="0"/>
          </a:p>
        </p:txBody>
      </p:sp>
      <p:sp>
        <p:nvSpPr>
          <p:cNvPr id="25" name="직사각형 24"/>
          <p:cNvSpPr/>
          <p:nvPr/>
        </p:nvSpPr>
        <p:spPr>
          <a:xfrm>
            <a:off x="10301104" y="5172087"/>
            <a:ext cx="373673" cy="9231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6" name="직사각형 25"/>
          <p:cNvSpPr/>
          <p:nvPr/>
        </p:nvSpPr>
        <p:spPr>
          <a:xfrm rot="5400000">
            <a:off x="10301103" y="5172087"/>
            <a:ext cx="373673" cy="9231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7" name="타원 26"/>
          <p:cNvSpPr/>
          <p:nvPr/>
        </p:nvSpPr>
        <p:spPr>
          <a:xfrm>
            <a:off x="9993186" y="5843602"/>
            <a:ext cx="964222" cy="880695"/>
          </a:xfrm>
          <a:prstGeom prst="ellipse">
            <a:avLst/>
          </a:prstGeom>
          <a:solidFill>
            <a:schemeClr val="accent6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3800" dirty="0"/>
          </a:p>
        </p:txBody>
      </p:sp>
      <p:sp>
        <p:nvSpPr>
          <p:cNvPr id="30" name="타원 29"/>
          <p:cNvSpPr/>
          <p:nvPr/>
        </p:nvSpPr>
        <p:spPr>
          <a:xfrm>
            <a:off x="10171963" y="3944030"/>
            <a:ext cx="589084" cy="545122"/>
          </a:xfrm>
          <a:prstGeom prst="ellipse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3800" dirty="0"/>
          </a:p>
        </p:txBody>
      </p:sp>
      <p:sp>
        <p:nvSpPr>
          <p:cNvPr id="31" name="직사각형 30"/>
          <p:cNvSpPr/>
          <p:nvPr/>
        </p:nvSpPr>
        <p:spPr>
          <a:xfrm>
            <a:off x="10295055" y="4168233"/>
            <a:ext cx="373673" cy="9231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2" name="TextBox 31"/>
          <p:cNvSpPr txBox="1"/>
          <p:nvPr/>
        </p:nvSpPr>
        <p:spPr>
          <a:xfrm>
            <a:off x="10884138" y="4029726"/>
            <a:ext cx="1151519" cy="44627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fontAlgn="base"/>
            <a:r>
              <a:rPr lang="ko-KR" altLang="en-US" sz="2300" b="1" smtClean="0"/>
              <a:t>전자</a:t>
            </a:r>
            <a:endParaRPr lang="ko-KR" altLang="en-US" sz="2300" b="1" dirty="0"/>
          </a:p>
        </p:txBody>
      </p:sp>
      <p:sp>
        <p:nvSpPr>
          <p:cNvPr id="33" name="TextBox 32"/>
          <p:cNvSpPr txBox="1"/>
          <p:nvPr/>
        </p:nvSpPr>
        <p:spPr>
          <a:xfrm>
            <a:off x="10953388" y="4958807"/>
            <a:ext cx="1151519" cy="44627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fontAlgn="base"/>
            <a:r>
              <a:rPr lang="ko-KR" altLang="en-US" sz="2300" b="1" dirty="0" smtClean="0"/>
              <a:t>양성자</a:t>
            </a:r>
            <a:endParaRPr lang="ko-KR" altLang="en-US" sz="2300" b="1" dirty="0"/>
          </a:p>
        </p:txBody>
      </p:sp>
      <p:sp>
        <p:nvSpPr>
          <p:cNvPr id="34" name="TextBox 33"/>
          <p:cNvSpPr txBox="1"/>
          <p:nvPr/>
        </p:nvSpPr>
        <p:spPr>
          <a:xfrm>
            <a:off x="10970052" y="6013218"/>
            <a:ext cx="1151519" cy="44627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fontAlgn="base"/>
            <a:r>
              <a:rPr lang="ko-KR" altLang="en-US" sz="2300" b="1" dirty="0" smtClean="0"/>
              <a:t>중성자</a:t>
            </a:r>
            <a:endParaRPr lang="ko-KR" altLang="en-US" sz="2300" b="1" dirty="0"/>
          </a:p>
        </p:txBody>
      </p:sp>
      <p:sp>
        <p:nvSpPr>
          <p:cNvPr id="28" name="타원 27"/>
          <p:cNvSpPr/>
          <p:nvPr/>
        </p:nvSpPr>
        <p:spPr>
          <a:xfrm>
            <a:off x="7097134" y="2576147"/>
            <a:ext cx="589084" cy="545122"/>
          </a:xfrm>
          <a:prstGeom prst="ellipse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3800" dirty="0"/>
          </a:p>
        </p:txBody>
      </p:sp>
      <p:sp>
        <p:nvSpPr>
          <p:cNvPr id="29" name="직사각형 28"/>
          <p:cNvSpPr/>
          <p:nvPr/>
        </p:nvSpPr>
        <p:spPr>
          <a:xfrm>
            <a:off x="7220226" y="2800350"/>
            <a:ext cx="373673" cy="9231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6" name="TextBox 35"/>
          <p:cNvSpPr txBox="1"/>
          <p:nvPr/>
        </p:nvSpPr>
        <p:spPr>
          <a:xfrm>
            <a:off x="7496662" y="2217812"/>
            <a:ext cx="590428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fontAlgn="base"/>
            <a:r>
              <a:rPr lang="ko-KR" altLang="en-US" sz="1500" smtClean="0"/>
              <a:t>얽힘</a:t>
            </a:r>
            <a:endParaRPr lang="ko-KR" altLang="en-US" sz="1500" dirty="0"/>
          </a:p>
        </p:txBody>
      </p:sp>
      <p:sp>
        <p:nvSpPr>
          <p:cNvPr id="35" name="직사각형 34"/>
          <p:cNvSpPr/>
          <p:nvPr/>
        </p:nvSpPr>
        <p:spPr>
          <a:xfrm rot="3192107">
            <a:off x="7113784" y="2542828"/>
            <a:ext cx="147850" cy="110597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7" name="직사각형 36"/>
          <p:cNvSpPr/>
          <p:nvPr/>
        </p:nvSpPr>
        <p:spPr>
          <a:xfrm>
            <a:off x="98715" y="84447"/>
            <a:ext cx="1545447" cy="414318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b="1" dirty="0" smtClean="0"/>
              <a:t>얽힘</a:t>
            </a:r>
            <a:endParaRPr lang="ko-KR" altLang="en-US" b="1" dirty="0"/>
          </a:p>
        </p:txBody>
      </p:sp>
    </p:spTree>
    <p:extLst>
      <p:ext uri="{BB962C8B-B14F-4D97-AF65-F5344CB8AC3E}">
        <p14:creationId xmlns:p14="http://schemas.microsoft.com/office/powerpoint/2010/main" val="86073400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위쪽 화살표 38"/>
          <p:cNvSpPr/>
          <p:nvPr/>
        </p:nvSpPr>
        <p:spPr>
          <a:xfrm rot="10800000">
            <a:off x="7332786" y="3122713"/>
            <a:ext cx="149952" cy="139233"/>
          </a:xfrm>
          <a:prstGeom prst="upArrow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7" name="위쪽 화살표 36"/>
          <p:cNvSpPr/>
          <p:nvPr/>
        </p:nvSpPr>
        <p:spPr>
          <a:xfrm>
            <a:off x="6906355" y="1903538"/>
            <a:ext cx="158261" cy="184639"/>
          </a:xfrm>
          <a:prstGeom prst="upArrow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" name="타원 4"/>
          <p:cNvSpPr/>
          <p:nvPr/>
        </p:nvSpPr>
        <p:spPr>
          <a:xfrm>
            <a:off x="3025370" y="1750775"/>
            <a:ext cx="4653517" cy="4298702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0" name="타원 9"/>
          <p:cNvSpPr/>
          <p:nvPr/>
        </p:nvSpPr>
        <p:spPr>
          <a:xfrm>
            <a:off x="4393037" y="3801946"/>
            <a:ext cx="964222" cy="880695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3800" dirty="0"/>
          </a:p>
        </p:txBody>
      </p:sp>
      <p:sp>
        <p:nvSpPr>
          <p:cNvPr id="13" name="직사각형 12"/>
          <p:cNvSpPr/>
          <p:nvPr/>
        </p:nvSpPr>
        <p:spPr>
          <a:xfrm>
            <a:off x="4688311" y="4196134"/>
            <a:ext cx="373673" cy="9231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4" name="직사각형 13"/>
          <p:cNvSpPr/>
          <p:nvPr/>
        </p:nvSpPr>
        <p:spPr>
          <a:xfrm rot="5400000">
            <a:off x="4688310" y="4196134"/>
            <a:ext cx="373673" cy="9231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5" name="타원 14"/>
          <p:cNvSpPr/>
          <p:nvPr/>
        </p:nvSpPr>
        <p:spPr>
          <a:xfrm>
            <a:off x="6690944" y="2079383"/>
            <a:ext cx="589084" cy="545122"/>
          </a:xfrm>
          <a:prstGeom prst="ellipse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3800" dirty="0"/>
          </a:p>
        </p:txBody>
      </p:sp>
      <p:sp>
        <p:nvSpPr>
          <p:cNvPr id="16" name="직사각형 15"/>
          <p:cNvSpPr/>
          <p:nvPr/>
        </p:nvSpPr>
        <p:spPr>
          <a:xfrm>
            <a:off x="6814036" y="2303586"/>
            <a:ext cx="373673" cy="9231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9" name="타원 18"/>
          <p:cNvSpPr/>
          <p:nvPr/>
        </p:nvSpPr>
        <p:spPr>
          <a:xfrm>
            <a:off x="5357256" y="3814407"/>
            <a:ext cx="964222" cy="880695"/>
          </a:xfrm>
          <a:prstGeom prst="ellipse">
            <a:avLst/>
          </a:prstGeom>
          <a:solidFill>
            <a:schemeClr val="accent6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3800" dirty="0"/>
          </a:p>
        </p:txBody>
      </p:sp>
      <p:sp>
        <p:nvSpPr>
          <p:cNvPr id="20" name="타원 19"/>
          <p:cNvSpPr/>
          <p:nvPr/>
        </p:nvSpPr>
        <p:spPr>
          <a:xfrm>
            <a:off x="5354329" y="2922705"/>
            <a:ext cx="964222" cy="880695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3800" dirty="0"/>
          </a:p>
        </p:txBody>
      </p:sp>
      <p:sp>
        <p:nvSpPr>
          <p:cNvPr id="21" name="직사각형 20"/>
          <p:cNvSpPr/>
          <p:nvPr/>
        </p:nvSpPr>
        <p:spPr>
          <a:xfrm>
            <a:off x="5649603" y="3316893"/>
            <a:ext cx="373673" cy="9231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2" name="직사각형 21"/>
          <p:cNvSpPr/>
          <p:nvPr/>
        </p:nvSpPr>
        <p:spPr>
          <a:xfrm rot="5400000">
            <a:off x="5649602" y="3316893"/>
            <a:ext cx="373673" cy="9231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3" name="타원 22"/>
          <p:cNvSpPr/>
          <p:nvPr/>
        </p:nvSpPr>
        <p:spPr>
          <a:xfrm>
            <a:off x="4393037" y="2908790"/>
            <a:ext cx="964222" cy="880695"/>
          </a:xfrm>
          <a:prstGeom prst="ellipse">
            <a:avLst/>
          </a:prstGeom>
          <a:solidFill>
            <a:schemeClr val="accent6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3800" dirty="0"/>
          </a:p>
        </p:txBody>
      </p:sp>
      <p:sp>
        <p:nvSpPr>
          <p:cNvPr id="24" name="타원 23"/>
          <p:cNvSpPr/>
          <p:nvPr/>
        </p:nvSpPr>
        <p:spPr>
          <a:xfrm>
            <a:off x="10005830" y="4777899"/>
            <a:ext cx="964222" cy="880695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3800" dirty="0"/>
          </a:p>
        </p:txBody>
      </p:sp>
      <p:sp>
        <p:nvSpPr>
          <p:cNvPr id="25" name="직사각형 24"/>
          <p:cNvSpPr/>
          <p:nvPr/>
        </p:nvSpPr>
        <p:spPr>
          <a:xfrm>
            <a:off x="10301104" y="5172087"/>
            <a:ext cx="373673" cy="9231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6" name="직사각형 25"/>
          <p:cNvSpPr/>
          <p:nvPr/>
        </p:nvSpPr>
        <p:spPr>
          <a:xfrm rot="5400000">
            <a:off x="10301103" y="5172087"/>
            <a:ext cx="373673" cy="9231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7" name="타원 26"/>
          <p:cNvSpPr/>
          <p:nvPr/>
        </p:nvSpPr>
        <p:spPr>
          <a:xfrm>
            <a:off x="9993186" y="5843602"/>
            <a:ext cx="964222" cy="880695"/>
          </a:xfrm>
          <a:prstGeom prst="ellipse">
            <a:avLst/>
          </a:prstGeom>
          <a:solidFill>
            <a:schemeClr val="accent6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3800" dirty="0"/>
          </a:p>
        </p:txBody>
      </p:sp>
      <p:sp>
        <p:nvSpPr>
          <p:cNvPr id="30" name="타원 29"/>
          <p:cNvSpPr/>
          <p:nvPr/>
        </p:nvSpPr>
        <p:spPr>
          <a:xfrm>
            <a:off x="10171963" y="3944030"/>
            <a:ext cx="589084" cy="545122"/>
          </a:xfrm>
          <a:prstGeom prst="ellipse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3800" dirty="0"/>
          </a:p>
        </p:txBody>
      </p:sp>
      <p:sp>
        <p:nvSpPr>
          <p:cNvPr id="31" name="직사각형 30"/>
          <p:cNvSpPr/>
          <p:nvPr/>
        </p:nvSpPr>
        <p:spPr>
          <a:xfrm>
            <a:off x="10295055" y="4168233"/>
            <a:ext cx="373673" cy="9231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2" name="TextBox 31"/>
          <p:cNvSpPr txBox="1"/>
          <p:nvPr/>
        </p:nvSpPr>
        <p:spPr>
          <a:xfrm>
            <a:off x="10884138" y="4029726"/>
            <a:ext cx="1151519" cy="44627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fontAlgn="base"/>
            <a:r>
              <a:rPr lang="ko-KR" altLang="en-US" sz="2300" b="1" smtClean="0"/>
              <a:t>전자</a:t>
            </a:r>
            <a:endParaRPr lang="ko-KR" altLang="en-US" sz="2300" b="1" dirty="0"/>
          </a:p>
        </p:txBody>
      </p:sp>
      <p:sp>
        <p:nvSpPr>
          <p:cNvPr id="33" name="TextBox 32"/>
          <p:cNvSpPr txBox="1"/>
          <p:nvPr/>
        </p:nvSpPr>
        <p:spPr>
          <a:xfrm>
            <a:off x="10953388" y="4958807"/>
            <a:ext cx="1151519" cy="44627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fontAlgn="base"/>
            <a:r>
              <a:rPr lang="ko-KR" altLang="en-US" sz="2300" b="1" dirty="0" smtClean="0"/>
              <a:t>양성자</a:t>
            </a:r>
            <a:endParaRPr lang="ko-KR" altLang="en-US" sz="2300" b="1" dirty="0"/>
          </a:p>
        </p:txBody>
      </p:sp>
      <p:sp>
        <p:nvSpPr>
          <p:cNvPr id="34" name="TextBox 33"/>
          <p:cNvSpPr txBox="1"/>
          <p:nvPr/>
        </p:nvSpPr>
        <p:spPr>
          <a:xfrm>
            <a:off x="10970052" y="6013218"/>
            <a:ext cx="1151519" cy="44627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fontAlgn="base"/>
            <a:r>
              <a:rPr lang="ko-KR" altLang="en-US" sz="2300" b="1" dirty="0" smtClean="0"/>
              <a:t>중성자</a:t>
            </a:r>
            <a:endParaRPr lang="ko-KR" altLang="en-US" sz="2300" b="1" dirty="0"/>
          </a:p>
        </p:txBody>
      </p:sp>
      <p:sp>
        <p:nvSpPr>
          <p:cNvPr id="28" name="타원 27"/>
          <p:cNvSpPr/>
          <p:nvPr/>
        </p:nvSpPr>
        <p:spPr>
          <a:xfrm>
            <a:off x="7097134" y="2576147"/>
            <a:ext cx="589084" cy="545122"/>
          </a:xfrm>
          <a:prstGeom prst="ellipse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3800" dirty="0"/>
          </a:p>
        </p:txBody>
      </p:sp>
      <p:sp>
        <p:nvSpPr>
          <p:cNvPr id="29" name="직사각형 28"/>
          <p:cNvSpPr/>
          <p:nvPr/>
        </p:nvSpPr>
        <p:spPr>
          <a:xfrm>
            <a:off x="7220226" y="2800350"/>
            <a:ext cx="373673" cy="9231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6" name="TextBox 35"/>
          <p:cNvSpPr txBox="1"/>
          <p:nvPr/>
        </p:nvSpPr>
        <p:spPr>
          <a:xfrm>
            <a:off x="7496662" y="2217812"/>
            <a:ext cx="590428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fontAlgn="base"/>
            <a:r>
              <a:rPr lang="ko-KR" altLang="en-US" sz="1500" smtClean="0"/>
              <a:t>얽힘</a:t>
            </a:r>
            <a:endParaRPr lang="ko-KR" altLang="en-US" sz="1500" dirty="0"/>
          </a:p>
        </p:txBody>
      </p:sp>
      <p:sp>
        <p:nvSpPr>
          <p:cNvPr id="35" name="직사각형 34"/>
          <p:cNvSpPr/>
          <p:nvPr/>
        </p:nvSpPr>
        <p:spPr>
          <a:xfrm rot="3192107">
            <a:off x="7113784" y="2542828"/>
            <a:ext cx="147850" cy="110597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8" name="직사각형 37"/>
          <p:cNvSpPr/>
          <p:nvPr/>
        </p:nvSpPr>
        <p:spPr>
          <a:xfrm>
            <a:off x="98715" y="84447"/>
            <a:ext cx="1545447" cy="414318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b="1" dirty="0" smtClean="0"/>
              <a:t>얽힘</a:t>
            </a:r>
            <a:endParaRPr lang="ko-KR" altLang="en-US" b="1" dirty="0"/>
          </a:p>
        </p:txBody>
      </p:sp>
    </p:spTree>
    <p:extLst>
      <p:ext uri="{BB962C8B-B14F-4D97-AF65-F5344CB8AC3E}">
        <p14:creationId xmlns:p14="http://schemas.microsoft.com/office/powerpoint/2010/main" val="46617133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위쪽 화살표 38"/>
          <p:cNvSpPr/>
          <p:nvPr/>
        </p:nvSpPr>
        <p:spPr>
          <a:xfrm rot="10800000">
            <a:off x="7332786" y="3122713"/>
            <a:ext cx="149952" cy="139233"/>
          </a:xfrm>
          <a:prstGeom prst="upArrow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7" name="위쪽 화살표 36"/>
          <p:cNvSpPr/>
          <p:nvPr/>
        </p:nvSpPr>
        <p:spPr>
          <a:xfrm>
            <a:off x="6906355" y="1903538"/>
            <a:ext cx="158261" cy="184639"/>
          </a:xfrm>
          <a:prstGeom prst="upArrow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" name="타원 4"/>
          <p:cNvSpPr/>
          <p:nvPr/>
        </p:nvSpPr>
        <p:spPr>
          <a:xfrm>
            <a:off x="3025370" y="1750775"/>
            <a:ext cx="4653517" cy="4298702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0" name="타원 9"/>
          <p:cNvSpPr/>
          <p:nvPr/>
        </p:nvSpPr>
        <p:spPr>
          <a:xfrm>
            <a:off x="4393037" y="3801946"/>
            <a:ext cx="964222" cy="880695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3800" dirty="0"/>
          </a:p>
        </p:txBody>
      </p:sp>
      <p:sp>
        <p:nvSpPr>
          <p:cNvPr id="13" name="직사각형 12"/>
          <p:cNvSpPr/>
          <p:nvPr/>
        </p:nvSpPr>
        <p:spPr>
          <a:xfrm>
            <a:off x="4688311" y="4196134"/>
            <a:ext cx="373673" cy="9231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4" name="직사각형 13"/>
          <p:cNvSpPr/>
          <p:nvPr/>
        </p:nvSpPr>
        <p:spPr>
          <a:xfrm rot="5400000">
            <a:off x="4688310" y="4196134"/>
            <a:ext cx="373673" cy="9231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5" name="타원 14"/>
          <p:cNvSpPr/>
          <p:nvPr/>
        </p:nvSpPr>
        <p:spPr>
          <a:xfrm>
            <a:off x="6690944" y="2079383"/>
            <a:ext cx="589084" cy="545122"/>
          </a:xfrm>
          <a:prstGeom prst="ellipse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3800" dirty="0"/>
          </a:p>
        </p:txBody>
      </p:sp>
      <p:sp>
        <p:nvSpPr>
          <p:cNvPr id="16" name="직사각형 15"/>
          <p:cNvSpPr/>
          <p:nvPr/>
        </p:nvSpPr>
        <p:spPr>
          <a:xfrm>
            <a:off x="6814036" y="2303586"/>
            <a:ext cx="373673" cy="9231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9" name="타원 18"/>
          <p:cNvSpPr/>
          <p:nvPr/>
        </p:nvSpPr>
        <p:spPr>
          <a:xfrm>
            <a:off x="5357256" y="3814407"/>
            <a:ext cx="964222" cy="880695"/>
          </a:xfrm>
          <a:prstGeom prst="ellipse">
            <a:avLst/>
          </a:prstGeom>
          <a:solidFill>
            <a:schemeClr val="accent6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3800" dirty="0"/>
          </a:p>
        </p:txBody>
      </p:sp>
      <p:sp>
        <p:nvSpPr>
          <p:cNvPr id="20" name="타원 19"/>
          <p:cNvSpPr/>
          <p:nvPr/>
        </p:nvSpPr>
        <p:spPr>
          <a:xfrm>
            <a:off x="5354329" y="2922705"/>
            <a:ext cx="964222" cy="880695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3800" dirty="0"/>
          </a:p>
        </p:txBody>
      </p:sp>
      <p:sp>
        <p:nvSpPr>
          <p:cNvPr id="21" name="직사각형 20"/>
          <p:cNvSpPr/>
          <p:nvPr/>
        </p:nvSpPr>
        <p:spPr>
          <a:xfrm>
            <a:off x="5649603" y="3316893"/>
            <a:ext cx="373673" cy="9231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2" name="직사각형 21"/>
          <p:cNvSpPr/>
          <p:nvPr/>
        </p:nvSpPr>
        <p:spPr>
          <a:xfrm rot="5400000">
            <a:off x="5649602" y="3316893"/>
            <a:ext cx="373673" cy="9231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3" name="타원 22"/>
          <p:cNvSpPr/>
          <p:nvPr/>
        </p:nvSpPr>
        <p:spPr>
          <a:xfrm>
            <a:off x="4393037" y="2908790"/>
            <a:ext cx="964222" cy="880695"/>
          </a:xfrm>
          <a:prstGeom prst="ellipse">
            <a:avLst/>
          </a:prstGeom>
          <a:solidFill>
            <a:schemeClr val="accent6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3800" dirty="0"/>
          </a:p>
        </p:txBody>
      </p:sp>
      <p:sp>
        <p:nvSpPr>
          <p:cNvPr id="24" name="타원 23"/>
          <p:cNvSpPr/>
          <p:nvPr/>
        </p:nvSpPr>
        <p:spPr>
          <a:xfrm>
            <a:off x="10005830" y="4777899"/>
            <a:ext cx="964222" cy="880695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3800" dirty="0"/>
          </a:p>
        </p:txBody>
      </p:sp>
      <p:sp>
        <p:nvSpPr>
          <p:cNvPr id="25" name="직사각형 24"/>
          <p:cNvSpPr/>
          <p:nvPr/>
        </p:nvSpPr>
        <p:spPr>
          <a:xfrm>
            <a:off x="10301104" y="5172087"/>
            <a:ext cx="373673" cy="9231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6" name="직사각형 25"/>
          <p:cNvSpPr/>
          <p:nvPr/>
        </p:nvSpPr>
        <p:spPr>
          <a:xfrm rot="5400000">
            <a:off x="10301103" y="5172087"/>
            <a:ext cx="373673" cy="9231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7" name="타원 26"/>
          <p:cNvSpPr/>
          <p:nvPr/>
        </p:nvSpPr>
        <p:spPr>
          <a:xfrm>
            <a:off x="9993186" y="5843602"/>
            <a:ext cx="964222" cy="880695"/>
          </a:xfrm>
          <a:prstGeom prst="ellipse">
            <a:avLst/>
          </a:prstGeom>
          <a:solidFill>
            <a:schemeClr val="accent6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3800" dirty="0"/>
          </a:p>
        </p:txBody>
      </p:sp>
      <p:sp>
        <p:nvSpPr>
          <p:cNvPr id="30" name="타원 29"/>
          <p:cNvSpPr/>
          <p:nvPr/>
        </p:nvSpPr>
        <p:spPr>
          <a:xfrm>
            <a:off x="10171963" y="3944030"/>
            <a:ext cx="589084" cy="545122"/>
          </a:xfrm>
          <a:prstGeom prst="ellipse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3800" dirty="0"/>
          </a:p>
        </p:txBody>
      </p:sp>
      <p:sp>
        <p:nvSpPr>
          <p:cNvPr id="31" name="직사각형 30"/>
          <p:cNvSpPr/>
          <p:nvPr/>
        </p:nvSpPr>
        <p:spPr>
          <a:xfrm>
            <a:off x="10295055" y="4168233"/>
            <a:ext cx="373673" cy="9231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2" name="TextBox 31"/>
          <p:cNvSpPr txBox="1"/>
          <p:nvPr/>
        </p:nvSpPr>
        <p:spPr>
          <a:xfrm>
            <a:off x="10884138" y="4029726"/>
            <a:ext cx="1151519" cy="44627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fontAlgn="base"/>
            <a:r>
              <a:rPr lang="ko-KR" altLang="en-US" sz="2300" b="1" dirty="0" smtClean="0"/>
              <a:t>전자</a:t>
            </a:r>
            <a:endParaRPr lang="ko-KR" altLang="en-US" sz="2300" b="1" dirty="0"/>
          </a:p>
        </p:txBody>
      </p:sp>
      <p:sp>
        <p:nvSpPr>
          <p:cNvPr id="33" name="TextBox 32"/>
          <p:cNvSpPr txBox="1"/>
          <p:nvPr/>
        </p:nvSpPr>
        <p:spPr>
          <a:xfrm>
            <a:off x="10953388" y="4958807"/>
            <a:ext cx="1151519" cy="44627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fontAlgn="base"/>
            <a:r>
              <a:rPr lang="ko-KR" altLang="en-US" sz="2300" b="1" dirty="0" smtClean="0"/>
              <a:t>양성자</a:t>
            </a:r>
            <a:endParaRPr lang="ko-KR" altLang="en-US" sz="2300" b="1" dirty="0"/>
          </a:p>
        </p:txBody>
      </p:sp>
      <p:sp>
        <p:nvSpPr>
          <p:cNvPr id="34" name="TextBox 33"/>
          <p:cNvSpPr txBox="1"/>
          <p:nvPr/>
        </p:nvSpPr>
        <p:spPr>
          <a:xfrm>
            <a:off x="10970052" y="6013218"/>
            <a:ext cx="1151519" cy="44627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fontAlgn="base"/>
            <a:r>
              <a:rPr lang="ko-KR" altLang="en-US" sz="2300" b="1" dirty="0" smtClean="0"/>
              <a:t>중성자</a:t>
            </a:r>
            <a:endParaRPr lang="ko-KR" altLang="en-US" sz="2300" b="1" dirty="0"/>
          </a:p>
        </p:txBody>
      </p:sp>
      <p:sp>
        <p:nvSpPr>
          <p:cNvPr id="28" name="타원 27"/>
          <p:cNvSpPr/>
          <p:nvPr/>
        </p:nvSpPr>
        <p:spPr>
          <a:xfrm>
            <a:off x="7097134" y="2576147"/>
            <a:ext cx="589084" cy="545122"/>
          </a:xfrm>
          <a:prstGeom prst="ellipse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3800" dirty="0"/>
          </a:p>
        </p:txBody>
      </p:sp>
      <p:sp>
        <p:nvSpPr>
          <p:cNvPr id="29" name="직사각형 28"/>
          <p:cNvSpPr/>
          <p:nvPr/>
        </p:nvSpPr>
        <p:spPr>
          <a:xfrm>
            <a:off x="7220226" y="2800350"/>
            <a:ext cx="373673" cy="9231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6" name="TextBox 35"/>
          <p:cNvSpPr txBox="1"/>
          <p:nvPr/>
        </p:nvSpPr>
        <p:spPr>
          <a:xfrm>
            <a:off x="7496662" y="2217812"/>
            <a:ext cx="590428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fontAlgn="base"/>
            <a:r>
              <a:rPr lang="ko-KR" altLang="en-US" sz="1500" smtClean="0"/>
              <a:t>얽힘</a:t>
            </a:r>
            <a:endParaRPr lang="ko-KR" altLang="en-US" sz="1500" dirty="0"/>
          </a:p>
        </p:txBody>
      </p:sp>
      <p:sp>
        <p:nvSpPr>
          <p:cNvPr id="35" name="직사각형 34"/>
          <p:cNvSpPr/>
          <p:nvPr/>
        </p:nvSpPr>
        <p:spPr>
          <a:xfrm rot="3192107">
            <a:off x="7113784" y="2542828"/>
            <a:ext cx="147850" cy="110597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38" name="그림 3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80885" y="433668"/>
            <a:ext cx="1627730" cy="1645715"/>
          </a:xfrm>
          <a:prstGeom prst="rect">
            <a:avLst/>
          </a:prstGeom>
        </p:spPr>
      </p:pic>
      <p:sp>
        <p:nvSpPr>
          <p:cNvPr id="41" name="직사각형 40"/>
          <p:cNvSpPr/>
          <p:nvPr/>
        </p:nvSpPr>
        <p:spPr>
          <a:xfrm>
            <a:off x="98715" y="84447"/>
            <a:ext cx="1545447" cy="414318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b="1" dirty="0" smtClean="0"/>
              <a:t>얽힘</a:t>
            </a:r>
            <a:endParaRPr lang="ko-KR" altLang="en-US" b="1" dirty="0"/>
          </a:p>
        </p:txBody>
      </p:sp>
    </p:spTree>
    <p:extLst>
      <p:ext uri="{BB962C8B-B14F-4D97-AF65-F5344CB8AC3E}">
        <p14:creationId xmlns:p14="http://schemas.microsoft.com/office/powerpoint/2010/main" val="297052494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직사각형 10"/>
          <p:cNvSpPr/>
          <p:nvPr/>
        </p:nvSpPr>
        <p:spPr>
          <a:xfrm>
            <a:off x="98715" y="84447"/>
            <a:ext cx="1985062" cy="414318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b="1" dirty="0" smtClean="0"/>
              <a:t>얽힘 </a:t>
            </a:r>
            <a:r>
              <a:rPr lang="en-US" altLang="ko-KR" b="1" dirty="0" smtClean="0"/>
              <a:t>(</a:t>
            </a:r>
            <a:r>
              <a:rPr lang="ko-KR" altLang="en-US" b="1" dirty="0" err="1" smtClean="0"/>
              <a:t>초전도체</a:t>
            </a:r>
            <a:r>
              <a:rPr lang="en-US" altLang="ko-KR" b="1" dirty="0" smtClean="0"/>
              <a:t>)</a:t>
            </a:r>
            <a:endParaRPr lang="ko-KR" altLang="en-US" b="1" dirty="0"/>
          </a:p>
        </p:txBody>
      </p:sp>
    </p:spTree>
    <p:extLst>
      <p:ext uri="{BB962C8B-B14F-4D97-AF65-F5344CB8AC3E}">
        <p14:creationId xmlns:p14="http://schemas.microsoft.com/office/powerpoint/2010/main" val="36721308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직사각형 10"/>
          <p:cNvSpPr/>
          <p:nvPr/>
        </p:nvSpPr>
        <p:spPr>
          <a:xfrm>
            <a:off x="98715" y="84447"/>
            <a:ext cx="1985062" cy="414318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b="1" dirty="0" smtClean="0"/>
              <a:t>얽힘 </a:t>
            </a:r>
            <a:r>
              <a:rPr lang="en-US" altLang="ko-KR" b="1" dirty="0" smtClean="0"/>
              <a:t>(</a:t>
            </a:r>
            <a:r>
              <a:rPr lang="ko-KR" altLang="en-US" b="1" dirty="0" err="1" smtClean="0"/>
              <a:t>초전도체</a:t>
            </a:r>
            <a:r>
              <a:rPr lang="en-US" altLang="ko-KR" b="1" dirty="0" smtClean="0"/>
              <a:t>)</a:t>
            </a:r>
            <a:endParaRPr lang="ko-KR" altLang="en-US" b="1" dirty="0"/>
          </a:p>
        </p:txBody>
      </p:sp>
    </p:spTree>
    <p:extLst>
      <p:ext uri="{BB962C8B-B14F-4D97-AF65-F5344CB8AC3E}">
        <p14:creationId xmlns:p14="http://schemas.microsoft.com/office/powerpoint/2010/main" val="263945853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3156878" y="1296347"/>
            <a:ext cx="6092629" cy="44627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300" b="1" dirty="0" err="1" smtClean="0"/>
              <a:t>이온트랩</a:t>
            </a:r>
            <a:r>
              <a:rPr lang="ko-KR" altLang="en-US" sz="2300" b="1" dirty="0" smtClean="0"/>
              <a:t>                  </a:t>
            </a:r>
            <a:r>
              <a:rPr lang="ko-KR" altLang="en-US" sz="2300" b="1" dirty="0" err="1" smtClean="0"/>
              <a:t>초전도체</a:t>
            </a:r>
            <a:endParaRPr lang="en-US" altLang="ko-KR" sz="800" b="1" dirty="0"/>
          </a:p>
        </p:txBody>
      </p:sp>
      <p:pic>
        <p:nvPicPr>
          <p:cNvPr id="4" name="그림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93520" y="1926548"/>
            <a:ext cx="933755" cy="362900"/>
          </a:xfrm>
          <a:prstGeom prst="rect">
            <a:avLst/>
          </a:prstGeom>
        </p:spPr>
      </p:pic>
      <p:pic>
        <p:nvPicPr>
          <p:cNvPr id="5" name="그림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22091" y="1926548"/>
            <a:ext cx="816299" cy="357131"/>
          </a:xfrm>
          <a:prstGeom prst="rect">
            <a:avLst/>
          </a:prstGeom>
        </p:spPr>
      </p:pic>
      <p:pic>
        <p:nvPicPr>
          <p:cNvPr id="6" name="그림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356890" y="1969993"/>
            <a:ext cx="981768" cy="377103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3247206" y="2503826"/>
            <a:ext cx="5307710" cy="13542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 smtClean="0"/>
              <a:t>이온 </a:t>
            </a:r>
            <a:r>
              <a:rPr lang="ko-KR" altLang="en-US" dirty="0" err="1" smtClean="0"/>
              <a:t>큐비트</a:t>
            </a:r>
            <a:r>
              <a:rPr lang="ko-KR" altLang="en-US" dirty="0" smtClean="0"/>
              <a:t>                      회로 </a:t>
            </a:r>
            <a:r>
              <a:rPr lang="ko-KR" altLang="en-US" dirty="0" err="1" smtClean="0"/>
              <a:t>큐비트</a:t>
            </a:r>
            <a:endParaRPr lang="en-US" altLang="ko-KR" dirty="0" smtClean="0"/>
          </a:p>
          <a:p>
            <a:endParaRPr lang="en-US" altLang="ko-KR" sz="500" dirty="0"/>
          </a:p>
          <a:p>
            <a:r>
              <a:rPr lang="ko-KR" altLang="en-US" dirty="0" smtClean="0"/>
              <a:t>오류 적음                         회로 오류</a:t>
            </a:r>
            <a:endParaRPr lang="en-US" altLang="ko-KR" dirty="0" smtClean="0"/>
          </a:p>
          <a:p>
            <a:endParaRPr lang="en-US" altLang="ko-KR" sz="500" dirty="0"/>
          </a:p>
          <a:p>
            <a:r>
              <a:rPr lang="ko-KR" altLang="en-US" dirty="0" smtClean="0"/>
              <a:t>확장 어려움                      회로 확장 가능</a:t>
            </a:r>
            <a:endParaRPr lang="en-US" altLang="ko-KR" dirty="0" smtClean="0"/>
          </a:p>
          <a:p>
            <a:endParaRPr lang="en-US" altLang="ko-KR" dirty="0"/>
          </a:p>
        </p:txBody>
      </p:sp>
    </p:spTree>
    <p:extLst>
      <p:ext uri="{BB962C8B-B14F-4D97-AF65-F5344CB8AC3E}">
        <p14:creationId xmlns:p14="http://schemas.microsoft.com/office/powerpoint/2010/main" val="79599337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직사각형 10"/>
          <p:cNvSpPr/>
          <p:nvPr/>
        </p:nvSpPr>
        <p:spPr>
          <a:xfrm>
            <a:off x="3896991" y="2080301"/>
            <a:ext cx="4306231" cy="847537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2800" b="1" dirty="0" err="1" smtClean="0"/>
              <a:t>초전도체</a:t>
            </a:r>
            <a:r>
              <a:rPr lang="ko-KR" altLang="en-US" sz="2800" b="1" dirty="0" smtClean="0"/>
              <a:t> </a:t>
            </a:r>
            <a:r>
              <a:rPr lang="en-US" altLang="ko-KR" sz="2800" b="1" dirty="0" smtClean="0"/>
              <a:t>VS </a:t>
            </a:r>
            <a:r>
              <a:rPr lang="ko-KR" altLang="en-US" sz="2800" b="1" dirty="0" err="1" smtClean="0"/>
              <a:t>일반금속</a:t>
            </a:r>
            <a:endParaRPr lang="ko-KR" altLang="en-US" sz="2800" b="1" dirty="0"/>
          </a:p>
        </p:txBody>
      </p:sp>
      <p:sp>
        <p:nvSpPr>
          <p:cNvPr id="3" name="TextBox 2"/>
          <p:cNvSpPr txBox="1"/>
          <p:nvPr/>
        </p:nvSpPr>
        <p:spPr>
          <a:xfrm>
            <a:off x="4222308" y="3059668"/>
            <a:ext cx="1360808" cy="44627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fontAlgn="base"/>
            <a:r>
              <a:rPr lang="ko-KR" altLang="en-US" sz="2300" b="1" dirty="0" smtClean="0"/>
              <a:t>알루미늄</a:t>
            </a:r>
            <a:endParaRPr lang="ko-KR" altLang="en-US" sz="2300" b="1" dirty="0"/>
          </a:p>
        </p:txBody>
      </p:sp>
      <p:sp>
        <p:nvSpPr>
          <p:cNvPr id="4" name="TextBox 3"/>
          <p:cNvSpPr txBox="1"/>
          <p:nvPr/>
        </p:nvSpPr>
        <p:spPr>
          <a:xfrm>
            <a:off x="7082739" y="3059668"/>
            <a:ext cx="935846" cy="44627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fontAlgn="base"/>
            <a:r>
              <a:rPr lang="ko-KR" altLang="en-US" sz="2300" b="1" smtClean="0"/>
              <a:t>구리</a:t>
            </a:r>
            <a:endParaRPr lang="ko-KR" altLang="en-US" sz="2300" b="1" dirty="0"/>
          </a:p>
        </p:txBody>
      </p:sp>
    </p:spTree>
    <p:extLst>
      <p:ext uri="{BB962C8B-B14F-4D97-AF65-F5344CB8AC3E}">
        <p14:creationId xmlns:p14="http://schemas.microsoft.com/office/powerpoint/2010/main" val="95758596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타원 1"/>
          <p:cNvSpPr/>
          <p:nvPr/>
        </p:nvSpPr>
        <p:spPr>
          <a:xfrm>
            <a:off x="6532682" y="4541229"/>
            <a:ext cx="589084" cy="545122"/>
          </a:xfrm>
          <a:prstGeom prst="ellipse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3800" dirty="0"/>
          </a:p>
        </p:txBody>
      </p:sp>
      <p:sp>
        <p:nvSpPr>
          <p:cNvPr id="3" name="직사각형 2"/>
          <p:cNvSpPr/>
          <p:nvPr/>
        </p:nvSpPr>
        <p:spPr>
          <a:xfrm>
            <a:off x="6655774" y="4765432"/>
            <a:ext cx="373673" cy="9231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" name="타원 5"/>
          <p:cNvSpPr/>
          <p:nvPr/>
        </p:nvSpPr>
        <p:spPr>
          <a:xfrm>
            <a:off x="8590083" y="4541229"/>
            <a:ext cx="589084" cy="545122"/>
          </a:xfrm>
          <a:prstGeom prst="ellipse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3800" dirty="0"/>
          </a:p>
        </p:txBody>
      </p:sp>
      <p:sp>
        <p:nvSpPr>
          <p:cNvPr id="7" name="직사각형 6"/>
          <p:cNvSpPr/>
          <p:nvPr/>
        </p:nvSpPr>
        <p:spPr>
          <a:xfrm>
            <a:off x="8713175" y="4765432"/>
            <a:ext cx="373673" cy="9231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2" name="TextBox 11"/>
          <p:cNvSpPr txBox="1"/>
          <p:nvPr/>
        </p:nvSpPr>
        <p:spPr>
          <a:xfrm>
            <a:off x="8442565" y="5465492"/>
            <a:ext cx="2811589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fontAlgn="base"/>
            <a:r>
              <a:rPr lang="ko-KR" altLang="en-US" sz="1500" dirty="0" smtClean="0"/>
              <a:t>같은 음전하</a:t>
            </a:r>
            <a:r>
              <a:rPr lang="en-US" altLang="ko-KR" sz="1500" dirty="0" smtClean="0"/>
              <a:t>: </a:t>
            </a:r>
            <a:r>
              <a:rPr lang="ko-KR" altLang="en-US" sz="1500" dirty="0" smtClean="0"/>
              <a:t>멀어지고 싶음</a:t>
            </a:r>
            <a:endParaRPr lang="ko-KR" altLang="en-US" sz="1500" dirty="0"/>
          </a:p>
        </p:txBody>
      </p:sp>
      <p:sp>
        <p:nvSpPr>
          <p:cNvPr id="5" name="오른쪽 화살표 4"/>
          <p:cNvSpPr/>
          <p:nvPr/>
        </p:nvSpPr>
        <p:spPr>
          <a:xfrm>
            <a:off x="8590083" y="5081953"/>
            <a:ext cx="720727" cy="275904"/>
          </a:xfrm>
          <a:prstGeom prst="rightArrow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" name="직사각형 7"/>
          <p:cNvSpPr/>
          <p:nvPr/>
        </p:nvSpPr>
        <p:spPr>
          <a:xfrm>
            <a:off x="98715" y="84447"/>
            <a:ext cx="2415885" cy="414318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b="1" dirty="0" err="1" smtClean="0"/>
              <a:t>초전도체</a:t>
            </a:r>
            <a:r>
              <a:rPr lang="ko-KR" altLang="en-US" b="1" dirty="0" smtClean="0"/>
              <a:t> </a:t>
            </a:r>
            <a:r>
              <a:rPr lang="en-US" altLang="ko-KR" b="1" dirty="0" smtClean="0"/>
              <a:t>(</a:t>
            </a:r>
            <a:r>
              <a:rPr lang="ko-KR" altLang="en-US" b="1" dirty="0" smtClean="0"/>
              <a:t>알루미늄</a:t>
            </a:r>
            <a:r>
              <a:rPr lang="en-US" altLang="ko-KR" b="1" dirty="0" smtClean="0"/>
              <a:t>)</a:t>
            </a:r>
            <a:endParaRPr lang="ko-KR" altLang="en-US" b="1" dirty="0"/>
          </a:p>
        </p:txBody>
      </p:sp>
      <p:pic>
        <p:nvPicPr>
          <p:cNvPr id="4" name="그림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2574" y="2224455"/>
            <a:ext cx="1568166" cy="1565030"/>
          </a:xfrm>
          <a:prstGeom prst="rect">
            <a:avLst/>
          </a:prstGeom>
        </p:spPr>
      </p:pic>
      <p:pic>
        <p:nvPicPr>
          <p:cNvPr id="9" name="그림 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8056" y="582856"/>
            <a:ext cx="1823305" cy="14624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2857141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타원 7"/>
          <p:cNvSpPr/>
          <p:nvPr/>
        </p:nvSpPr>
        <p:spPr>
          <a:xfrm>
            <a:off x="6866054" y="3631226"/>
            <a:ext cx="964222" cy="880695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3800" dirty="0"/>
          </a:p>
        </p:txBody>
      </p:sp>
      <p:sp>
        <p:nvSpPr>
          <p:cNvPr id="9" name="직사각형 8"/>
          <p:cNvSpPr/>
          <p:nvPr/>
        </p:nvSpPr>
        <p:spPr>
          <a:xfrm>
            <a:off x="7161328" y="4025414"/>
            <a:ext cx="373673" cy="9231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0" name="직사각형 9"/>
          <p:cNvSpPr/>
          <p:nvPr/>
        </p:nvSpPr>
        <p:spPr>
          <a:xfrm rot="5400000">
            <a:off x="7161327" y="4025414"/>
            <a:ext cx="373673" cy="9231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3" name="타원 12"/>
          <p:cNvSpPr/>
          <p:nvPr/>
        </p:nvSpPr>
        <p:spPr>
          <a:xfrm>
            <a:off x="5729468" y="3660534"/>
            <a:ext cx="964222" cy="880695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3800" dirty="0"/>
          </a:p>
        </p:txBody>
      </p:sp>
      <p:sp>
        <p:nvSpPr>
          <p:cNvPr id="14" name="직사각형 13"/>
          <p:cNvSpPr/>
          <p:nvPr/>
        </p:nvSpPr>
        <p:spPr>
          <a:xfrm>
            <a:off x="6024742" y="4054722"/>
            <a:ext cx="373673" cy="9231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5" name="직사각형 14"/>
          <p:cNvSpPr/>
          <p:nvPr/>
        </p:nvSpPr>
        <p:spPr>
          <a:xfrm rot="5400000">
            <a:off x="6024741" y="4054722"/>
            <a:ext cx="373673" cy="9231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6" name="타원 15"/>
          <p:cNvSpPr/>
          <p:nvPr/>
        </p:nvSpPr>
        <p:spPr>
          <a:xfrm>
            <a:off x="5729468" y="5086351"/>
            <a:ext cx="964222" cy="880695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3800" dirty="0"/>
          </a:p>
        </p:txBody>
      </p:sp>
      <p:sp>
        <p:nvSpPr>
          <p:cNvPr id="17" name="직사각형 16"/>
          <p:cNvSpPr/>
          <p:nvPr/>
        </p:nvSpPr>
        <p:spPr>
          <a:xfrm>
            <a:off x="6024742" y="5480539"/>
            <a:ext cx="373673" cy="9231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8" name="직사각형 17"/>
          <p:cNvSpPr/>
          <p:nvPr/>
        </p:nvSpPr>
        <p:spPr>
          <a:xfrm rot="5400000">
            <a:off x="6024741" y="5480539"/>
            <a:ext cx="373673" cy="9231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9" name="타원 18"/>
          <p:cNvSpPr/>
          <p:nvPr/>
        </p:nvSpPr>
        <p:spPr>
          <a:xfrm>
            <a:off x="6819896" y="5086351"/>
            <a:ext cx="964222" cy="880695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3800" dirty="0"/>
          </a:p>
        </p:txBody>
      </p:sp>
      <p:sp>
        <p:nvSpPr>
          <p:cNvPr id="20" name="직사각형 19"/>
          <p:cNvSpPr/>
          <p:nvPr/>
        </p:nvSpPr>
        <p:spPr>
          <a:xfrm>
            <a:off x="7115170" y="5480539"/>
            <a:ext cx="373673" cy="9231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1" name="직사각형 20"/>
          <p:cNvSpPr/>
          <p:nvPr/>
        </p:nvSpPr>
        <p:spPr>
          <a:xfrm rot="5400000">
            <a:off x="7115169" y="5480539"/>
            <a:ext cx="373673" cy="9231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2" name="타원 21"/>
          <p:cNvSpPr/>
          <p:nvPr/>
        </p:nvSpPr>
        <p:spPr>
          <a:xfrm>
            <a:off x="6532682" y="4541229"/>
            <a:ext cx="589084" cy="545122"/>
          </a:xfrm>
          <a:prstGeom prst="ellipse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3800" dirty="0"/>
          </a:p>
        </p:txBody>
      </p:sp>
      <p:sp>
        <p:nvSpPr>
          <p:cNvPr id="23" name="직사각형 22"/>
          <p:cNvSpPr/>
          <p:nvPr/>
        </p:nvSpPr>
        <p:spPr>
          <a:xfrm>
            <a:off x="6655774" y="4765432"/>
            <a:ext cx="373673" cy="9231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4" name="타원 23"/>
          <p:cNvSpPr/>
          <p:nvPr/>
        </p:nvSpPr>
        <p:spPr>
          <a:xfrm>
            <a:off x="8590083" y="4541229"/>
            <a:ext cx="589084" cy="545122"/>
          </a:xfrm>
          <a:prstGeom prst="ellipse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3800" dirty="0"/>
          </a:p>
        </p:txBody>
      </p:sp>
      <p:sp>
        <p:nvSpPr>
          <p:cNvPr id="25" name="직사각형 24"/>
          <p:cNvSpPr/>
          <p:nvPr/>
        </p:nvSpPr>
        <p:spPr>
          <a:xfrm>
            <a:off x="8713175" y="4765432"/>
            <a:ext cx="373673" cy="9231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6" name="오른쪽 화살표 25"/>
          <p:cNvSpPr/>
          <p:nvPr/>
        </p:nvSpPr>
        <p:spPr>
          <a:xfrm rot="10800000">
            <a:off x="8590083" y="5081953"/>
            <a:ext cx="720727" cy="275904"/>
          </a:xfrm>
          <a:prstGeom prst="rightArrow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7" name="TextBox 26"/>
          <p:cNvSpPr txBox="1"/>
          <p:nvPr/>
        </p:nvSpPr>
        <p:spPr>
          <a:xfrm>
            <a:off x="8442566" y="5465492"/>
            <a:ext cx="3022604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fontAlgn="base"/>
            <a:r>
              <a:rPr lang="ko-KR" altLang="en-US" sz="1500" dirty="0" smtClean="0"/>
              <a:t>양전하 때문에 전자와 </a:t>
            </a:r>
            <a:r>
              <a:rPr lang="ko-KR" altLang="en-US" sz="1500" dirty="0" err="1" smtClean="0"/>
              <a:t>가까워짐</a:t>
            </a:r>
            <a:endParaRPr lang="ko-KR" altLang="en-US" sz="1500" dirty="0"/>
          </a:p>
        </p:txBody>
      </p:sp>
      <p:sp>
        <p:nvSpPr>
          <p:cNvPr id="28" name="직사각형 27"/>
          <p:cNvSpPr/>
          <p:nvPr/>
        </p:nvSpPr>
        <p:spPr>
          <a:xfrm>
            <a:off x="98715" y="84447"/>
            <a:ext cx="2415885" cy="414318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b="1" dirty="0" err="1" smtClean="0"/>
              <a:t>초전도체</a:t>
            </a:r>
            <a:r>
              <a:rPr lang="ko-KR" altLang="en-US" b="1" dirty="0" smtClean="0"/>
              <a:t> </a:t>
            </a:r>
            <a:r>
              <a:rPr lang="en-US" altLang="ko-KR" b="1" dirty="0" smtClean="0"/>
              <a:t>(</a:t>
            </a:r>
            <a:r>
              <a:rPr lang="ko-KR" altLang="en-US" b="1" dirty="0" smtClean="0"/>
              <a:t>알루미늄</a:t>
            </a:r>
            <a:r>
              <a:rPr lang="en-US" altLang="ko-KR" b="1" dirty="0" smtClean="0"/>
              <a:t>)</a:t>
            </a:r>
            <a:endParaRPr lang="ko-KR" altLang="en-US" b="1" dirty="0"/>
          </a:p>
        </p:txBody>
      </p:sp>
      <p:pic>
        <p:nvPicPr>
          <p:cNvPr id="29" name="그림 2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2574" y="2224455"/>
            <a:ext cx="1568166" cy="1565030"/>
          </a:xfrm>
          <a:prstGeom prst="rect">
            <a:avLst/>
          </a:prstGeom>
        </p:spPr>
      </p:pic>
      <p:pic>
        <p:nvPicPr>
          <p:cNvPr id="31" name="그림 3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8056" y="582856"/>
            <a:ext cx="1823305" cy="14624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930059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타원 7"/>
          <p:cNvSpPr/>
          <p:nvPr/>
        </p:nvSpPr>
        <p:spPr>
          <a:xfrm>
            <a:off x="6866054" y="3631226"/>
            <a:ext cx="964222" cy="880695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3800" dirty="0"/>
          </a:p>
        </p:txBody>
      </p:sp>
      <p:sp>
        <p:nvSpPr>
          <p:cNvPr id="9" name="직사각형 8"/>
          <p:cNvSpPr/>
          <p:nvPr/>
        </p:nvSpPr>
        <p:spPr>
          <a:xfrm>
            <a:off x="7161328" y="4025414"/>
            <a:ext cx="373673" cy="9231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0" name="직사각형 9"/>
          <p:cNvSpPr/>
          <p:nvPr/>
        </p:nvSpPr>
        <p:spPr>
          <a:xfrm rot="5400000">
            <a:off x="7161327" y="4025414"/>
            <a:ext cx="373673" cy="9231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3" name="타원 12"/>
          <p:cNvSpPr/>
          <p:nvPr/>
        </p:nvSpPr>
        <p:spPr>
          <a:xfrm>
            <a:off x="5729468" y="3660534"/>
            <a:ext cx="964222" cy="880695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3800" dirty="0"/>
          </a:p>
        </p:txBody>
      </p:sp>
      <p:sp>
        <p:nvSpPr>
          <p:cNvPr id="14" name="직사각형 13"/>
          <p:cNvSpPr/>
          <p:nvPr/>
        </p:nvSpPr>
        <p:spPr>
          <a:xfrm>
            <a:off x="6024742" y="4054722"/>
            <a:ext cx="373673" cy="9231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5" name="직사각형 14"/>
          <p:cNvSpPr/>
          <p:nvPr/>
        </p:nvSpPr>
        <p:spPr>
          <a:xfrm rot="5400000">
            <a:off x="6024741" y="4054722"/>
            <a:ext cx="373673" cy="9231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6" name="타원 15"/>
          <p:cNvSpPr/>
          <p:nvPr/>
        </p:nvSpPr>
        <p:spPr>
          <a:xfrm>
            <a:off x="5729468" y="5086351"/>
            <a:ext cx="964222" cy="880695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3800" dirty="0"/>
          </a:p>
        </p:txBody>
      </p:sp>
      <p:sp>
        <p:nvSpPr>
          <p:cNvPr id="17" name="직사각형 16"/>
          <p:cNvSpPr/>
          <p:nvPr/>
        </p:nvSpPr>
        <p:spPr>
          <a:xfrm>
            <a:off x="6024742" y="5480539"/>
            <a:ext cx="373673" cy="9231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8" name="직사각형 17"/>
          <p:cNvSpPr/>
          <p:nvPr/>
        </p:nvSpPr>
        <p:spPr>
          <a:xfrm rot="5400000">
            <a:off x="6024741" y="5480539"/>
            <a:ext cx="373673" cy="9231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9" name="타원 18"/>
          <p:cNvSpPr/>
          <p:nvPr/>
        </p:nvSpPr>
        <p:spPr>
          <a:xfrm>
            <a:off x="6819896" y="5086351"/>
            <a:ext cx="964222" cy="880695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3800" dirty="0"/>
          </a:p>
        </p:txBody>
      </p:sp>
      <p:sp>
        <p:nvSpPr>
          <p:cNvPr id="20" name="직사각형 19"/>
          <p:cNvSpPr/>
          <p:nvPr/>
        </p:nvSpPr>
        <p:spPr>
          <a:xfrm>
            <a:off x="7115170" y="5480539"/>
            <a:ext cx="373673" cy="9231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1" name="직사각형 20"/>
          <p:cNvSpPr/>
          <p:nvPr/>
        </p:nvSpPr>
        <p:spPr>
          <a:xfrm rot="5400000">
            <a:off x="7115169" y="5480539"/>
            <a:ext cx="373673" cy="9231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2" name="타원 21"/>
          <p:cNvSpPr/>
          <p:nvPr/>
        </p:nvSpPr>
        <p:spPr>
          <a:xfrm>
            <a:off x="6532682" y="4541229"/>
            <a:ext cx="589084" cy="545122"/>
          </a:xfrm>
          <a:prstGeom prst="ellipse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3800" dirty="0"/>
          </a:p>
        </p:txBody>
      </p:sp>
      <p:sp>
        <p:nvSpPr>
          <p:cNvPr id="23" name="직사각형 22"/>
          <p:cNvSpPr/>
          <p:nvPr/>
        </p:nvSpPr>
        <p:spPr>
          <a:xfrm>
            <a:off x="6655774" y="4765432"/>
            <a:ext cx="373673" cy="9231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4" name="타원 23"/>
          <p:cNvSpPr/>
          <p:nvPr/>
        </p:nvSpPr>
        <p:spPr>
          <a:xfrm>
            <a:off x="7218480" y="4541229"/>
            <a:ext cx="589084" cy="545122"/>
          </a:xfrm>
          <a:prstGeom prst="ellipse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3800" dirty="0"/>
          </a:p>
        </p:txBody>
      </p:sp>
      <p:sp>
        <p:nvSpPr>
          <p:cNvPr id="25" name="직사각형 24"/>
          <p:cNvSpPr/>
          <p:nvPr/>
        </p:nvSpPr>
        <p:spPr>
          <a:xfrm>
            <a:off x="7341572" y="4765432"/>
            <a:ext cx="373673" cy="9231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7" name="TextBox 26"/>
          <p:cNvSpPr txBox="1"/>
          <p:nvPr/>
        </p:nvSpPr>
        <p:spPr>
          <a:xfrm>
            <a:off x="7784118" y="4991787"/>
            <a:ext cx="719019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fontAlgn="base"/>
            <a:r>
              <a:rPr lang="ko-KR" altLang="en-US" sz="1500" smtClean="0"/>
              <a:t>얽힘</a:t>
            </a:r>
            <a:endParaRPr lang="ko-KR" altLang="en-US" sz="1500" dirty="0"/>
          </a:p>
        </p:txBody>
      </p:sp>
      <p:sp>
        <p:nvSpPr>
          <p:cNvPr id="29" name="직사각형 28"/>
          <p:cNvSpPr/>
          <p:nvPr/>
        </p:nvSpPr>
        <p:spPr>
          <a:xfrm>
            <a:off x="98715" y="84447"/>
            <a:ext cx="2415885" cy="414318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b="1" dirty="0" err="1" smtClean="0"/>
              <a:t>초전도체</a:t>
            </a:r>
            <a:r>
              <a:rPr lang="ko-KR" altLang="en-US" b="1" dirty="0" smtClean="0"/>
              <a:t> </a:t>
            </a:r>
            <a:r>
              <a:rPr lang="en-US" altLang="ko-KR" b="1" dirty="0" smtClean="0"/>
              <a:t>(</a:t>
            </a:r>
            <a:r>
              <a:rPr lang="ko-KR" altLang="en-US" b="1" dirty="0" smtClean="0"/>
              <a:t>알루미늄</a:t>
            </a:r>
            <a:r>
              <a:rPr lang="en-US" altLang="ko-KR" b="1" dirty="0" smtClean="0"/>
              <a:t>)</a:t>
            </a:r>
            <a:endParaRPr lang="ko-KR" altLang="en-US" b="1" dirty="0"/>
          </a:p>
        </p:txBody>
      </p:sp>
      <p:pic>
        <p:nvPicPr>
          <p:cNvPr id="30" name="그림 29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2574" y="2224455"/>
            <a:ext cx="1568166" cy="1565030"/>
          </a:xfrm>
          <a:prstGeom prst="rect">
            <a:avLst/>
          </a:prstGeom>
        </p:spPr>
      </p:pic>
      <p:pic>
        <p:nvPicPr>
          <p:cNvPr id="31" name="그림 3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8056" y="582856"/>
            <a:ext cx="1823305" cy="14624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2187228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타원 21"/>
          <p:cNvSpPr/>
          <p:nvPr/>
        </p:nvSpPr>
        <p:spPr>
          <a:xfrm>
            <a:off x="6532682" y="4541229"/>
            <a:ext cx="589084" cy="545122"/>
          </a:xfrm>
          <a:prstGeom prst="ellipse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3800" dirty="0"/>
          </a:p>
        </p:txBody>
      </p:sp>
      <p:sp>
        <p:nvSpPr>
          <p:cNvPr id="23" name="직사각형 22"/>
          <p:cNvSpPr/>
          <p:nvPr/>
        </p:nvSpPr>
        <p:spPr>
          <a:xfrm>
            <a:off x="6655774" y="4765432"/>
            <a:ext cx="373673" cy="9231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4" name="타원 23"/>
          <p:cNvSpPr/>
          <p:nvPr/>
        </p:nvSpPr>
        <p:spPr>
          <a:xfrm>
            <a:off x="7218480" y="4541229"/>
            <a:ext cx="589084" cy="545122"/>
          </a:xfrm>
          <a:prstGeom prst="ellipse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3800" dirty="0"/>
          </a:p>
        </p:txBody>
      </p:sp>
      <p:sp>
        <p:nvSpPr>
          <p:cNvPr id="25" name="직사각형 24"/>
          <p:cNvSpPr/>
          <p:nvPr/>
        </p:nvSpPr>
        <p:spPr>
          <a:xfrm>
            <a:off x="7341572" y="4765432"/>
            <a:ext cx="373673" cy="9231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7" name="TextBox 26"/>
          <p:cNvSpPr txBox="1"/>
          <p:nvPr/>
        </p:nvSpPr>
        <p:spPr>
          <a:xfrm>
            <a:off x="7784118" y="4991787"/>
            <a:ext cx="719019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fontAlgn="base"/>
            <a:r>
              <a:rPr lang="ko-KR" altLang="en-US" sz="1500" smtClean="0"/>
              <a:t>얽힘</a:t>
            </a:r>
            <a:endParaRPr lang="ko-KR" altLang="en-US" sz="1500" dirty="0"/>
          </a:p>
        </p:txBody>
      </p:sp>
      <p:sp>
        <p:nvSpPr>
          <p:cNvPr id="26" name="직사각형 25"/>
          <p:cNvSpPr/>
          <p:nvPr/>
        </p:nvSpPr>
        <p:spPr>
          <a:xfrm>
            <a:off x="7090992" y="4785219"/>
            <a:ext cx="189033" cy="65896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1" name="직사각형 10"/>
          <p:cNvSpPr/>
          <p:nvPr/>
        </p:nvSpPr>
        <p:spPr>
          <a:xfrm>
            <a:off x="98715" y="84447"/>
            <a:ext cx="2415885" cy="414318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b="1" dirty="0" err="1" smtClean="0"/>
              <a:t>초전도체</a:t>
            </a:r>
            <a:r>
              <a:rPr lang="ko-KR" altLang="en-US" b="1" dirty="0" smtClean="0"/>
              <a:t> </a:t>
            </a:r>
            <a:r>
              <a:rPr lang="en-US" altLang="ko-KR" b="1" dirty="0" smtClean="0"/>
              <a:t>(</a:t>
            </a:r>
            <a:r>
              <a:rPr lang="ko-KR" altLang="en-US" b="1" dirty="0" smtClean="0"/>
              <a:t>알루미늄</a:t>
            </a:r>
            <a:r>
              <a:rPr lang="en-US" altLang="ko-KR" b="1" dirty="0" smtClean="0"/>
              <a:t>)</a:t>
            </a:r>
            <a:endParaRPr lang="ko-KR" altLang="en-US" b="1" dirty="0"/>
          </a:p>
        </p:txBody>
      </p:sp>
      <p:pic>
        <p:nvPicPr>
          <p:cNvPr id="12" name="그림 1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2574" y="2224455"/>
            <a:ext cx="1568166" cy="1565030"/>
          </a:xfrm>
          <a:prstGeom prst="rect">
            <a:avLst/>
          </a:prstGeom>
        </p:spPr>
      </p:pic>
      <p:pic>
        <p:nvPicPr>
          <p:cNvPr id="13" name="그림 1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8056" y="582856"/>
            <a:ext cx="1823305" cy="14624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5066207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위쪽 화살표 28"/>
          <p:cNvSpPr/>
          <p:nvPr/>
        </p:nvSpPr>
        <p:spPr>
          <a:xfrm rot="10800000">
            <a:off x="7438293" y="5092189"/>
            <a:ext cx="149952" cy="139233"/>
          </a:xfrm>
          <a:prstGeom prst="upArrow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" name="위쪽 화살표 1"/>
          <p:cNvSpPr/>
          <p:nvPr/>
        </p:nvSpPr>
        <p:spPr>
          <a:xfrm>
            <a:off x="6748093" y="4376372"/>
            <a:ext cx="158261" cy="184639"/>
          </a:xfrm>
          <a:prstGeom prst="upArrow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2" name="타원 21"/>
          <p:cNvSpPr/>
          <p:nvPr/>
        </p:nvSpPr>
        <p:spPr>
          <a:xfrm>
            <a:off x="6532682" y="4541229"/>
            <a:ext cx="589084" cy="545122"/>
          </a:xfrm>
          <a:prstGeom prst="ellipse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3800" dirty="0"/>
          </a:p>
        </p:txBody>
      </p:sp>
      <p:sp>
        <p:nvSpPr>
          <p:cNvPr id="23" name="직사각형 22"/>
          <p:cNvSpPr/>
          <p:nvPr/>
        </p:nvSpPr>
        <p:spPr>
          <a:xfrm>
            <a:off x="6655774" y="4765432"/>
            <a:ext cx="373673" cy="9231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4" name="타원 23"/>
          <p:cNvSpPr/>
          <p:nvPr/>
        </p:nvSpPr>
        <p:spPr>
          <a:xfrm>
            <a:off x="7218480" y="4541229"/>
            <a:ext cx="589084" cy="545122"/>
          </a:xfrm>
          <a:prstGeom prst="ellipse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3800" dirty="0"/>
          </a:p>
        </p:txBody>
      </p:sp>
      <p:sp>
        <p:nvSpPr>
          <p:cNvPr id="25" name="직사각형 24"/>
          <p:cNvSpPr/>
          <p:nvPr/>
        </p:nvSpPr>
        <p:spPr>
          <a:xfrm>
            <a:off x="7341572" y="4765432"/>
            <a:ext cx="373673" cy="9231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7" name="TextBox 26"/>
          <p:cNvSpPr txBox="1"/>
          <p:nvPr/>
        </p:nvSpPr>
        <p:spPr>
          <a:xfrm>
            <a:off x="7784118" y="4991787"/>
            <a:ext cx="719019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fontAlgn="base"/>
            <a:r>
              <a:rPr lang="ko-KR" altLang="en-US" sz="1500" dirty="0" smtClean="0"/>
              <a:t>얽힘</a:t>
            </a:r>
            <a:endParaRPr lang="ko-KR" altLang="en-US" sz="1500" dirty="0"/>
          </a:p>
        </p:txBody>
      </p:sp>
      <p:sp>
        <p:nvSpPr>
          <p:cNvPr id="26" name="직사각형 25"/>
          <p:cNvSpPr/>
          <p:nvPr/>
        </p:nvSpPr>
        <p:spPr>
          <a:xfrm>
            <a:off x="7090992" y="4785219"/>
            <a:ext cx="189033" cy="65896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2" name="직사각형 11"/>
          <p:cNvSpPr/>
          <p:nvPr/>
        </p:nvSpPr>
        <p:spPr>
          <a:xfrm>
            <a:off x="98715" y="84447"/>
            <a:ext cx="2415885" cy="414318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b="1" dirty="0" err="1" smtClean="0"/>
              <a:t>초전도체</a:t>
            </a:r>
            <a:r>
              <a:rPr lang="ko-KR" altLang="en-US" b="1" dirty="0" smtClean="0"/>
              <a:t> </a:t>
            </a:r>
            <a:r>
              <a:rPr lang="en-US" altLang="ko-KR" b="1" dirty="0" smtClean="0"/>
              <a:t>(</a:t>
            </a:r>
            <a:r>
              <a:rPr lang="ko-KR" altLang="en-US" b="1" dirty="0" smtClean="0"/>
              <a:t>알루미늄</a:t>
            </a:r>
            <a:r>
              <a:rPr lang="en-US" altLang="ko-KR" b="1" dirty="0" smtClean="0"/>
              <a:t>)</a:t>
            </a:r>
            <a:endParaRPr lang="ko-KR" altLang="en-US" b="1" dirty="0"/>
          </a:p>
        </p:txBody>
      </p:sp>
      <p:pic>
        <p:nvPicPr>
          <p:cNvPr id="13" name="그림 1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2574" y="2224455"/>
            <a:ext cx="1568166" cy="1565030"/>
          </a:xfrm>
          <a:prstGeom prst="rect">
            <a:avLst/>
          </a:prstGeom>
        </p:spPr>
      </p:pic>
      <p:pic>
        <p:nvPicPr>
          <p:cNvPr id="14" name="그림 1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8056" y="582856"/>
            <a:ext cx="1823305" cy="14624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5863837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타원 7"/>
          <p:cNvSpPr/>
          <p:nvPr/>
        </p:nvSpPr>
        <p:spPr>
          <a:xfrm>
            <a:off x="9531590" y="2334362"/>
            <a:ext cx="964222" cy="880695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3800" dirty="0"/>
          </a:p>
        </p:txBody>
      </p:sp>
      <p:sp>
        <p:nvSpPr>
          <p:cNvPr id="9" name="직사각형 8"/>
          <p:cNvSpPr/>
          <p:nvPr/>
        </p:nvSpPr>
        <p:spPr>
          <a:xfrm>
            <a:off x="9826864" y="2728550"/>
            <a:ext cx="373673" cy="9231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0" name="직사각형 9"/>
          <p:cNvSpPr/>
          <p:nvPr/>
        </p:nvSpPr>
        <p:spPr>
          <a:xfrm rot="5400000">
            <a:off x="9826863" y="2728550"/>
            <a:ext cx="373673" cy="9231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3" name="타원 12"/>
          <p:cNvSpPr/>
          <p:nvPr/>
        </p:nvSpPr>
        <p:spPr>
          <a:xfrm>
            <a:off x="3672067" y="2334362"/>
            <a:ext cx="964222" cy="880695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3800" dirty="0"/>
          </a:p>
        </p:txBody>
      </p:sp>
      <p:sp>
        <p:nvSpPr>
          <p:cNvPr id="14" name="직사각형 13"/>
          <p:cNvSpPr/>
          <p:nvPr/>
        </p:nvSpPr>
        <p:spPr>
          <a:xfrm>
            <a:off x="3967341" y="2728550"/>
            <a:ext cx="373673" cy="9231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5" name="직사각형 14"/>
          <p:cNvSpPr/>
          <p:nvPr/>
        </p:nvSpPr>
        <p:spPr>
          <a:xfrm rot="5400000">
            <a:off x="3967340" y="2728550"/>
            <a:ext cx="373673" cy="9231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6" name="타원 15"/>
          <p:cNvSpPr/>
          <p:nvPr/>
        </p:nvSpPr>
        <p:spPr>
          <a:xfrm>
            <a:off x="3625906" y="5931145"/>
            <a:ext cx="964222" cy="880695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3800" dirty="0"/>
          </a:p>
        </p:txBody>
      </p:sp>
      <p:sp>
        <p:nvSpPr>
          <p:cNvPr id="17" name="직사각형 16"/>
          <p:cNvSpPr/>
          <p:nvPr/>
        </p:nvSpPr>
        <p:spPr>
          <a:xfrm>
            <a:off x="3921180" y="6325333"/>
            <a:ext cx="373673" cy="9231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8" name="직사각형 17"/>
          <p:cNvSpPr/>
          <p:nvPr/>
        </p:nvSpPr>
        <p:spPr>
          <a:xfrm rot="5400000">
            <a:off x="3921179" y="6325333"/>
            <a:ext cx="373673" cy="9231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9" name="타원 18"/>
          <p:cNvSpPr/>
          <p:nvPr/>
        </p:nvSpPr>
        <p:spPr>
          <a:xfrm>
            <a:off x="9886207" y="5909898"/>
            <a:ext cx="964222" cy="880695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3800" dirty="0"/>
          </a:p>
        </p:txBody>
      </p:sp>
      <p:sp>
        <p:nvSpPr>
          <p:cNvPr id="20" name="직사각형 19"/>
          <p:cNvSpPr/>
          <p:nvPr/>
        </p:nvSpPr>
        <p:spPr>
          <a:xfrm>
            <a:off x="10181481" y="6304086"/>
            <a:ext cx="373673" cy="9231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1" name="직사각형 20"/>
          <p:cNvSpPr/>
          <p:nvPr/>
        </p:nvSpPr>
        <p:spPr>
          <a:xfrm rot="5400000">
            <a:off x="10181480" y="6304086"/>
            <a:ext cx="373673" cy="9231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3" name="직사각형 22"/>
          <p:cNvSpPr/>
          <p:nvPr/>
        </p:nvSpPr>
        <p:spPr>
          <a:xfrm>
            <a:off x="7750175" y="3431938"/>
            <a:ext cx="373673" cy="9231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7" name="타원 36"/>
          <p:cNvSpPr/>
          <p:nvPr/>
        </p:nvSpPr>
        <p:spPr>
          <a:xfrm>
            <a:off x="6532682" y="4541229"/>
            <a:ext cx="589084" cy="545122"/>
          </a:xfrm>
          <a:prstGeom prst="ellipse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3800" dirty="0"/>
          </a:p>
        </p:txBody>
      </p:sp>
      <p:sp>
        <p:nvSpPr>
          <p:cNvPr id="38" name="직사각형 37"/>
          <p:cNvSpPr/>
          <p:nvPr/>
        </p:nvSpPr>
        <p:spPr>
          <a:xfrm>
            <a:off x="6655774" y="4765432"/>
            <a:ext cx="373673" cy="9231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9" name="타원 38"/>
          <p:cNvSpPr/>
          <p:nvPr/>
        </p:nvSpPr>
        <p:spPr>
          <a:xfrm>
            <a:off x="8590083" y="4541229"/>
            <a:ext cx="589084" cy="545122"/>
          </a:xfrm>
          <a:prstGeom prst="ellipse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3800" dirty="0"/>
          </a:p>
        </p:txBody>
      </p:sp>
      <p:sp>
        <p:nvSpPr>
          <p:cNvPr id="40" name="직사각형 39"/>
          <p:cNvSpPr/>
          <p:nvPr/>
        </p:nvSpPr>
        <p:spPr>
          <a:xfrm>
            <a:off x="8713175" y="4765432"/>
            <a:ext cx="373673" cy="9231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2" name="직사각형 21"/>
          <p:cNvSpPr/>
          <p:nvPr/>
        </p:nvSpPr>
        <p:spPr>
          <a:xfrm>
            <a:off x="98715" y="84447"/>
            <a:ext cx="2064193" cy="414318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b="1" dirty="0" err="1" smtClean="0"/>
              <a:t>일반금속</a:t>
            </a:r>
            <a:r>
              <a:rPr lang="ko-KR" altLang="en-US" b="1" dirty="0" smtClean="0"/>
              <a:t> </a:t>
            </a:r>
            <a:r>
              <a:rPr lang="en-US" altLang="ko-KR" b="1" dirty="0" smtClean="0"/>
              <a:t>(</a:t>
            </a:r>
            <a:r>
              <a:rPr lang="ko-KR" altLang="en-US" b="1" dirty="0" smtClean="0"/>
              <a:t>구리</a:t>
            </a:r>
            <a:r>
              <a:rPr lang="en-US" altLang="ko-KR" b="1" dirty="0" smtClean="0"/>
              <a:t>)</a:t>
            </a:r>
            <a:endParaRPr lang="ko-KR" altLang="en-US" b="1" dirty="0"/>
          </a:p>
        </p:txBody>
      </p:sp>
      <p:pic>
        <p:nvPicPr>
          <p:cNvPr id="2" name="그림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7636" y="2820868"/>
            <a:ext cx="1835272" cy="1847241"/>
          </a:xfrm>
          <a:prstGeom prst="rect">
            <a:avLst/>
          </a:prstGeom>
        </p:spPr>
      </p:pic>
      <p:pic>
        <p:nvPicPr>
          <p:cNvPr id="3" name="그림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5729" y="595480"/>
            <a:ext cx="2064951" cy="18557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0317757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타원 7"/>
          <p:cNvSpPr/>
          <p:nvPr/>
        </p:nvSpPr>
        <p:spPr>
          <a:xfrm>
            <a:off x="9531590" y="2334362"/>
            <a:ext cx="964222" cy="880695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3800" dirty="0"/>
          </a:p>
        </p:txBody>
      </p:sp>
      <p:sp>
        <p:nvSpPr>
          <p:cNvPr id="9" name="직사각형 8"/>
          <p:cNvSpPr/>
          <p:nvPr/>
        </p:nvSpPr>
        <p:spPr>
          <a:xfrm>
            <a:off x="9826864" y="2728550"/>
            <a:ext cx="373673" cy="9231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0" name="직사각형 9"/>
          <p:cNvSpPr/>
          <p:nvPr/>
        </p:nvSpPr>
        <p:spPr>
          <a:xfrm rot="5400000">
            <a:off x="9826863" y="2728550"/>
            <a:ext cx="373673" cy="9231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3" name="타원 12"/>
          <p:cNvSpPr/>
          <p:nvPr/>
        </p:nvSpPr>
        <p:spPr>
          <a:xfrm>
            <a:off x="3672067" y="2334362"/>
            <a:ext cx="964222" cy="880695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3800" dirty="0"/>
          </a:p>
        </p:txBody>
      </p:sp>
      <p:sp>
        <p:nvSpPr>
          <p:cNvPr id="14" name="직사각형 13"/>
          <p:cNvSpPr/>
          <p:nvPr/>
        </p:nvSpPr>
        <p:spPr>
          <a:xfrm>
            <a:off x="3967341" y="2728550"/>
            <a:ext cx="373673" cy="9231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5" name="직사각형 14"/>
          <p:cNvSpPr/>
          <p:nvPr/>
        </p:nvSpPr>
        <p:spPr>
          <a:xfrm rot="5400000">
            <a:off x="3967340" y="2728550"/>
            <a:ext cx="373673" cy="9231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6" name="타원 15"/>
          <p:cNvSpPr/>
          <p:nvPr/>
        </p:nvSpPr>
        <p:spPr>
          <a:xfrm>
            <a:off x="3625906" y="5931145"/>
            <a:ext cx="964222" cy="880695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3800" dirty="0"/>
          </a:p>
        </p:txBody>
      </p:sp>
      <p:sp>
        <p:nvSpPr>
          <p:cNvPr id="17" name="직사각형 16"/>
          <p:cNvSpPr/>
          <p:nvPr/>
        </p:nvSpPr>
        <p:spPr>
          <a:xfrm>
            <a:off x="3921180" y="6325333"/>
            <a:ext cx="373673" cy="9231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8" name="직사각형 17"/>
          <p:cNvSpPr/>
          <p:nvPr/>
        </p:nvSpPr>
        <p:spPr>
          <a:xfrm rot="5400000">
            <a:off x="3921179" y="6325333"/>
            <a:ext cx="373673" cy="9231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9" name="타원 18"/>
          <p:cNvSpPr/>
          <p:nvPr/>
        </p:nvSpPr>
        <p:spPr>
          <a:xfrm>
            <a:off x="9886207" y="5909898"/>
            <a:ext cx="964222" cy="880695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3800" dirty="0"/>
          </a:p>
        </p:txBody>
      </p:sp>
      <p:sp>
        <p:nvSpPr>
          <p:cNvPr id="20" name="직사각형 19"/>
          <p:cNvSpPr/>
          <p:nvPr/>
        </p:nvSpPr>
        <p:spPr>
          <a:xfrm>
            <a:off x="10181481" y="6304086"/>
            <a:ext cx="373673" cy="9231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1" name="직사각형 20"/>
          <p:cNvSpPr/>
          <p:nvPr/>
        </p:nvSpPr>
        <p:spPr>
          <a:xfrm rot="5400000">
            <a:off x="10181480" y="6304086"/>
            <a:ext cx="373673" cy="9231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3" name="직사각형 22"/>
          <p:cNvSpPr/>
          <p:nvPr/>
        </p:nvSpPr>
        <p:spPr>
          <a:xfrm>
            <a:off x="7750175" y="3431938"/>
            <a:ext cx="373673" cy="9231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7" name="타원 36"/>
          <p:cNvSpPr/>
          <p:nvPr/>
        </p:nvSpPr>
        <p:spPr>
          <a:xfrm>
            <a:off x="6532682" y="4541229"/>
            <a:ext cx="589084" cy="545122"/>
          </a:xfrm>
          <a:prstGeom prst="ellipse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3800" dirty="0"/>
          </a:p>
        </p:txBody>
      </p:sp>
      <p:sp>
        <p:nvSpPr>
          <p:cNvPr id="38" name="직사각형 37"/>
          <p:cNvSpPr/>
          <p:nvPr/>
        </p:nvSpPr>
        <p:spPr>
          <a:xfrm>
            <a:off x="6655774" y="4765432"/>
            <a:ext cx="373673" cy="9231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2" name="타원 21"/>
          <p:cNvSpPr/>
          <p:nvPr/>
        </p:nvSpPr>
        <p:spPr>
          <a:xfrm>
            <a:off x="9838590" y="4541229"/>
            <a:ext cx="589084" cy="545122"/>
          </a:xfrm>
          <a:prstGeom prst="ellipse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3800" dirty="0"/>
          </a:p>
        </p:txBody>
      </p:sp>
      <p:sp>
        <p:nvSpPr>
          <p:cNvPr id="24" name="직사각형 23"/>
          <p:cNvSpPr/>
          <p:nvPr/>
        </p:nvSpPr>
        <p:spPr>
          <a:xfrm>
            <a:off x="9961682" y="4765432"/>
            <a:ext cx="373673" cy="9231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5" name="TextBox 24"/>
          <p:cNvSpPr txBox="1"/>
          <p:nvPr/>
        </p:nvSpPr>
        <p:spPr>
          <a:xfrm>
            <a:off x="9436094" y="5393369"/>
            <a:ext cx="2536097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fontAlgn="base"/>
            <a:r>
              <a:rPr lang="ko-KR" altLang="en-US" sz="1500" dirty="0" smtClean="0"/>
              <a:t>같은 음전하</a:t>
            </a:r>
            <a:r>
              <a:rPr lang="en-US" altLang="ko-KR" sz="1500" dirty="0" smtClean="0"/>
              <a:t>: </a:t>
            </a:r>
            <a:r>
              <a:rPr lang="ko-KR" altLang="en-US" sz="1500" dirty="0" smtClean="0"/>
              <a:t>멀어지고 싶음</a:t>
            </a:r>
            <a:endParaRPr lang="ko-KR" altLang="en-US" sz="1500" dirty="0"/>
          </a:p>
        </p:txBody>
      </p:sp>
      <p:sp>
        <p:nvSpPr>
          <p:cNvPr id="26" name="오른쪽 화살표 25"/>
          <p:cNvSpPr/>
          <p:nvPr/>
        </p:nvSpPr>
        <p:spPr>
          <a:xfrm>
            <a:off x="9838590" y="5081953"/>
            <a:ext cx="720727" cy="275904"/>
          </a:xfrm>
          <a:prstGeom prst="rightArrow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7" name="직사각형 26"/>
          <p:cNvSpPr/>
          <p:nvPr/>
        </p:nvSpPr>
        <p:spPr>
          <a:xfrm>
            <a:off x="98715" y="84447"/>
            <a:ext cx="2064193" cy="414318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b="1" dirty="0" err="1" smtClean="0"/>
              <a:t>일반금속</a:t>
            </a:r>
            <a:r>
              <a:rPr lang="ko-KR" altLang="en-US" b="1" dirty="0" smtClean="0"/>
              <a:t> </a:t>
            </a:r>
            <a:r>
              <a:rPr lang="en-US" altLang="ko-KR" b="1" dirty="0" smtClean="0"/>
              <a:t>(</a:t>
            </a:r>
            <a:r>
              <a:rPr lang="ko-KR" altLang="en-US" b="1" dirty="0" smtClean="0"/>
              <a:t>구리</a:t>
            </a:r>
            <a:r>
              <a:rPr lang="en-US" altLang="ko-KR" b="1" dirty="0" smtClean="0"/>
              <a:t>)</a:t>
            </a:r>
            <a:endParaRPr lang="ko-KR" altLang="en-US" b="1" dirty="0"/>
          </a:p>
        </p:txBody>
      </p:sp>
      <p:pic>
        <p:nvPicPr>
          <p:cNvPr id="28" name="그림 2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7636" y="2820868"/>
            <a:ext cx="1835272" cy="1847241"/>
          </a:xfrm>
          <a:prstGeom prst="rect">
            <a:avLst/>
          </a:prstGeom>
        </p:spPr>
      </p:pic>
      <p:pic>
        <p:nvPicPr>
          <p:cNvPr id="29" name="그림 2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5729" y="595480"/>
            <a:ext cx="2064951" cy="18557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2100494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타원 7"/>
          <p:cNvSpPr/>
          <p:nvPr/>
        </p:nvSpPr>
        <p:spPr>
          <a:xfrm>
            <a:off x="9531590" y="2334362"/>
            <a:ext cx="964222" cy="880695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3800" dirty="0"/>
          </a:p>
        </p:txBody>
      </p:sp>
      <p:sp>
        <p:nvSpPr>
          <p:cNvPr id="9" name="직사각형 8"/>
          <p:cNvSpPr/>
          <p:nvPr/>
        </p:nvSpPr>
        <p:spPr>
          <a:xfrm>
            <a:off x="9826864" y="2728550"/>
            <a:ext cx="373673" cy="9231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0" name="직사각형 9"/>
          <p:cNvSpPr/>
          <p:nvPr/>
        </p:nvSpPr>
        <p:spPr>
          <a:xfrm rot="5400000">
            <a:off x="9826863" y="2728550"/>
            <a:ext cx="373673" cy="9231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3" name="타원 12"/>
          <p:cNvSpPr/>
          <p:nvPr/>
        </p:nvSpPr>
        <p:spPr>
          <a:xfrm>
            <a:off x="3672067" y="2334362"/>
            <a:ext cx="964222" cy="880695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3800" dirty="0"/>
          </a:p>
        </p:txBody>
      </p:sp>
      <p:sp>
        <p:nvSpPr>
          <p:cNvPr id="14" name="직사각형 13"/>
          <p:cNvSpPr/>
          <p:nvPr/>
        </p:nvSpPr>
        <p:spPr>
          <a:xfrm>
            <a:off x="3967341" y="2728550"/>
            <a:ext cx="373673" cy="9231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5" name="직사각형 14"/>
          <p:cNvSpPr/>
          <p:nvPr/>
        </p:nvSpPr>
        <p:spPr>
          <a:xfrm rot="5400000">
            <a:off x="3967340" y="2728550"/>
            <a:ext cx="373673" cy="9231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6" name="타원 15"/>
          <p:cNvSpPr/>
          <p:nvPr/>
        </p:nvSpPr>
        <p:spPr>
          <a:xfrm>
            <a:off x="3625906" y="5931145"/>
            <a:ext cx="964222" cy="880695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3800" dirty="0"/>
          </a:p>
        </p:txBody>
      </p:sp>
      <p:sp>
        <p:nvSpPr>
          <p:cNvPr id="17" name="직사각형 16"/>
          <p:cNvSpPr/>
          <p:nvPr/>
        </p:nvSpPr>
        <p:spPr>
          <a:xfrm>
            <a:off x="3921180" y="6325333"/>
            <a:ext cx="373673" cy="9231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8" name="직사각형 17"/>
          <p:cNvSpPr/>
          <p:nvPr/>
        </p:nvSpPr>
        <p:spPr>
          <a:xfrm rot="5400000">
            <a:off x="3921179" y="6325333"/>
            <a:ext cx="373673" cy="9231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9" name="타원 18"/>
          <p:cNvSpPr/>
          <p:nvPr/>
        </p:nvSpPr>
        <p:spPr>
          <a:xfrm>
            <a:off x="9886207" y="5909898"/>
            <a:ext cx="964222" cy="880695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3800" dirty="0"/>
          </a:p>
        </p:txBody>
      </p:sp>
      <p:sp>
        <p:nvSpPr>
          <p:cNvPr id="20" name="직사각형 19"/>
          <p:cNvSpPr/>
          <p:nvPr/>
        </p:nvSpPr>
        <p:spPr>
          <a:xfrm>
            <a:off x="10181481" y="6304086"/>
            <a:ext cx="373673" cy="9231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1" name="직사각형 20"/>
          <p:cNvSpPr/>
          <p:nvPr/>
        </p:nvSpPr>
        <p:spPr>
          <a:xfrm rot="5400000">
            <a:off x="10181480" y="6304086"/>
            <a:ext cx="373673" cy="9231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3" name="직사각형 22"/>
          <p:cNvSpPr/>
          <p:nvPr/>
        </p:nvSpPr>
        <p:spPr>
          <a:xfrm>
            <a:off x="7750175" y="3431938"/>
            <a:ext cx="373673" cy="9231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7" name="타원 36"/>
          <p:cNvSpPr/>
          <p:nvPr/>
        </p:nvSpPr>
        <p:spPr>
          <a:xfrm>
            <a:off x="6532682" y="4541229"/>
            <a:ext cx="589084" cy="545122"/>
          </a:xfrm>
          <a:prstGeom prst="ellipse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3800" dirty="0"/>
          </a:p>
        </p:txBody>
      </p:sp>
      <p:sp>
        <p:nvSpPr>
          <p:cNvPr id="38" name="직사각형 37"/>
          <p:cNvSpPr/>
          <p:nvPr/>
        </p:nvSpPr>
        <p:spPr>
          <a:xfrm>
            <a:off x="6655774" y="4765432"/>
            <a:ext cx="373673" cy="9231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2" name="타원 21"/>
          <p:cNvSpPr/>
          <p:nvPr/>
        </p:nvSpPr>
        <p:spPr>
          <a:xfrm>
            <a:off x="9838590" y="4541229"/>
            <a:ext cx="589084" cy="545122"/>
          </a:xfrm>
          <a:prstGeom prst="ellipse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3800" dirty="0"/>
          </a:p>
        </p:txBody>
      </p:sp>
      <p:sp>
        <p:nvSpPr>
          <p:cNvPr id="24" name="직사각형 23"/>
          <p:cNvSpPr/>
          <p:nvPr/>
        </p:nvSpPr>
        <p:spPr>
          <a:xfrm>
            <a:off x="9961682" y="4765432"/>
            <a:ext cx="373673" cy="9231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5" name="TextBox 24"/>
          <p:cNvSpPr txBox="1"/>
          <p:nvPr/>
        </p:nvSpPr>
        <p:spPr>
          <a:xfrm>
            <a:off x="9436094" y="5393369"/>
            <a:ext cx="2536097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fontAlgn="base"/>
            <a:r>
              <a:rPr lang="ko-KR" altLang="en-US" sz="1500" dirty="0" smtClean="0"/>
              <a:t>같은 음전하</a:t>
            </a:r>
            <a:r>
              <a:rPr lang="en-US" altLang="ko-KR" sz="1500" dirty="0" smtClean="0"/>
              <a:t>: </a:t>
            </a:r>
            <a:r>
              <a:rPr lang="ko-KR" altLang="en-US" sz="1500" dirty="0" smtClean="0"/>
              <a:t>멀어지고 싶음</a:t>
            </a:r>
            <a:endParaRPr lang="ko-KR" altLang="en-US" sz="1500" dirty="0"/>
          </a:p>
        </p:txBody>
      </p:sp>
      <p:sp>
        <p:nvSpPr>
          <p:cNvPr id="26" name="오른쪽 화살표 25"/>
          <p:cNvSpPr/>
          <p:nvPr/>
        </p:nvSpPr>
        <p:spPr>
          <a:xfrm>
            <a:off x="9838590" y="5081953"/>
            <a:ext cx="720727" cy="275904"/>
          </a:xfrm>
          <a:prstGeom prst="rightArrow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7" name="TextBox 26"/>
          <p:cNvSpPr txBox="1"/>
          <p:nvPr/>
        </p:nvSpPr>
        <p:spPr>
          <a:xfrm>
            <a:off x="4154175" y="4025679"/>
            <a:ext cx="5030424" cy="44627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fontAlgn="base"/>
            <a:r>
              <a:rPr lang="ko-KR" altLang="en-US" sz="2300" b="1" dirty="0" smtClean="0"/>
              <a:t>쿠퍼 전자쌍이 안됨 </a:t>
            </a:r>
            <a:r>
              <a:rPr lang="en-US" altLang="ko-KR" sz="2300" b="1" dirty="0" smtClean="0"/>
              <a:t>=&gt; </a:t>
            </a:r>
            <a:r>
              <a:rPr lang="ko-KR" altLang="en-US" sz="2300" b="1" dirty="0" smtClean="0"/>
              <a:t>큰 흐름 없음</a:t>
            </a:r>
            <a:endParaRPr lang="ko-KR" altLang="en-US" sz="2300" b="1" dirty="0"/>
          </a:p>
        </p:txBody>
      </p:sp>
      <p:sp>
        <p:nvSpPr>
          <p:cNvPr id="28" name="직사각형 27"/>
          <p:cNvSpPr/>
          <p:nvPr/>
        </p:nvSpPr>
        <p:spPr>
          <a:xfrm>
            <a:off x="98715" y="84447"/>
            <a:ext cx="2064193" cy="414318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b="1" dirty="0" err="1" smtClean="0"/>
              <a:t>일반금속</a:t>
            </a:r>
            <a:r>
              <a:rPr lang="ko-KR" altLang="en-US" b="1" dirty="0" smtClean="0"/>
              <a:t> </a:t>
            </a:r>
            <a:r>
              <a:rPr lang="en-US" altLang="ko-KR" b="1" dirty="0" smtClean="0"/>
              <a:t>(</a:t>
            </a:r>
            <a:r>
              <a:rPr lang="ko-KR" altLang="en-US" b="1" dirty="0" smtClean="0"/>
              <a:t>구리</a:t>
            </a:r>
            <a:r>
              <a:rPr lang="en-US" altLang="ko-KR" b="1" dirty="0" smtClean="0"/>
              <a:t>)</a:t>
            </a:r>
            <a:endParaRPr lang="ko-KR" altLang="en-US" b="1" dirty="0"/>
          </a:p>
        </p:txBody>
      </p:sp>
      <p:pic>
        <p:nvPicPr>
          <p:cNvPr id="29" name="그림 2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7636" y="2820868"/>
            <a:ext cx="1835272" cy="1847241"/>
          </a:xfrm>
          <a:prstGeom prst="rect">
            <a:avLst/>
          </a:prstGeom>
        </p:spPr>
      </p:pic>
      <p:pic>
        <p:nvPicPr>
          <p:cNvPr id="31" name="그림 3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5729" y="595480"/>
            <a:ext cx="2064951" cy="18557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3819507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직사각형 27"/>
          <p:cNvSpPr/>
          <p:nvPr/>
        </p:nvSpPr>
        <p:spPr>
          <a:xfrm>
            <a:off x="98715" y="84447"/>
            <a:ext cx="2064193" cy="414318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b="1" dirty="0" err="1" smtClean="0"/>
              <a:t>일반금속</a:t>
            </a:r>
            <a:r>
              <a:rPr lang="ko-KR" altLang="en-US" b="1" dirty="0" smtClean="0"/>
              <a:t> </a:t>
            </a:r>
            <a:r>
              <a:rPr lang="en-US" altLang="ko-KR" b="1" dirty="0" smtClean="0"/>
              <a:t>(</a:t>
            </a:r>
            <a:r>
              <a:rPr lang="ko-KR" altLang="en-US" b="1" dirty="0" smtClean="0"/>
              <a:t>구리</a:t>
            </a:r>
            <a:r>
              <a:rPr lang="en-US" altLang="ko-KR" b="1" dirty="0" smtClean="0"/>
              <a:t>)</a:t>
            </a:r>
            <a:endParaRPr lang="ko-KR" altLang="en-US" b="1" dirty="0"/>
          </a:p>
        </p:txBody>
      </p:sp>
      <p:pic>
        <p:nvPicPr>
          <p:cNvPr id="31" name="그림 3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5729" y="595480"/>
            <a:ext cx="2064951" cy="1855726"/>
          </a:xfrm>
          <a:prstGeom prst="rect">
            <a:avLst/>
          </a:prstGeom>
        </p:spPr>
      </p:pic>
      <p:sp>
        <p:nvSpPr>
          <p:cNvPr id="30" name="직사각형 29"/>
          <p:cNvSpPr/>
          <p:nvPr/>
        </p:nvSpPr>
        <p:spPr>
          <a:xfrm>
            <a:off x="141323" y="3618955"/>
            <a:ext cx="2415885" cy="414318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b="1" dirty="0" err="1" smtClean="0"/>
              <a:t>초전도체</a:t>
            </a:r>
            <a:r>
              <a:rPr lang="ko-KR" altLang="en-US" b="1" dirty="0" smtClean="0"/>
              <a:t> </a:t>
            </a:r>
            <a:r>
              <a:rPr lang="en-US" altLang="ko-KR" b="1" dirty="0" smtClean="0"/>
              <a:t>(</a:t>
            </a:r>
            <a:r>
              <a:rPr lang="ko-KR" altLang="en-US" b="1" dirty="0" smtClean="0"/>
              <a:t>알루미늄</a:t>
            </a:r>
            <a:r>
              <a:rPr lang="en-US" altLang="ko-KR" b="1" dirty="0" smtClean="0"/>
              <a:t>)</a:t>
            </a:r>
            <a:endParaRPr lang="ko-KR" altLang="en-US" b="1" dirty="0"/>
          </a:p>
        </p:txBody>
      </p:sp>
      <p:pic>
        <p:nvPicPr>
          <p:cNvPr id="32" name="그림 3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5729" y="4129988"/>
            <a:ext cx="1823305" cy="1462403"/>
          </a:xfrm>
          <a:prstGeom prst="rect">
            <a:avLst/>
          </a:prstGeom>
        </p:spPr>
      </p:pic>
      <p:sp>
        <p:nvSpPr>
          <p:cNvPr id="36" name="TextBox 35"/>
          <p:cNvSpPr txBox="1"/>
          <p:nvPr/>
        </p:nvSpPr>
        <p:spPr>
          <a:xfrm>
            <a:off x="375452" y="2931462"/>
            <a:ext cx="175358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fontAlgn="base"/>
            <a:r>
              <a:rPr lang="en-US" altLang="ko-KR" b="1" dirty="0" smtClean="0"/>
              <a:t>-273</a:t>
            </a:r>
            <a:r>
              <a:rPr lang="ko-KR" altLang="en-US" b="1" dirty="0" smtClean="0"/>
              <a:t>도 극저온</a:t>
            </a:r>
            <a:endParaRPr lang="ko-KR" altLang="en-US" b="1" dirty="0"/>
          </a:p>
        </p:txBody>
      </p:sp>
    </p:spTree>
    <p:extLst>
      <p:ext uri="{BB962C8B-B14F-4D97-AF65-F5344CB8AC3E}">
        <p14:creationId xmlns:p14="http://schemas.microsoft.com/office/powerpoint/2010/main" val="66266784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직사각형 27"/>
          <p:cNvSpPr/>
          <p:nvPr/>
        </p:nvSpPr>
        <p:spPr>
          <a:xfrm>
            <a:off x="98715" y="84447"/>
            <a:ext cx="2064193" cy="414318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b="1" dirty="0" err="1" smtClean="0"/>
              <a:t>일반금속</a:t>
            </a:r>
            <a:r>
              <a:rPr lang="ko-KR" altLang="en-US" b="1" dirty="0" smtClean="0"/>
              <a:t> </a:t>
            </a:r>
            <a:r>
              <a:rPr lang="en-US" altLang="ko-KR" b="1" dirty="0" smtClean="0"/>
              <a:t>(</a:t>
            </a:r>
            <a:r>
              <a:rPr lang="ko-KR" altLang="en-US" b="1" dirty="0" smtClean="0"/>
              <a:t>구리</a:t>
            </a:r>
            <a:r>
              <a:rPr lang="en-US" altLang="ko-KR" b="1" dirty="0" smtClean="0"/>
              <a:t>)</a:t>
            </a:r>
            <a:endParaRPr lang="ko-KR" altLang="en-US" b="1" dirty="0"/>
          </a:p>
        </p:txBody>
      </p:sp>
      <p:pic>
        <p:nvPicPr>
          <p:cNvPr id="31" name="그림 3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5729" y="595480"/>
            <a:ext cx="2064951" cy="1855726"/>
          </a:xfrm>
          <a:prstGeom prst="rect">
            <a:avLst/>
          </a:prstGeom>
        </p:spPr>
      </p:pic>
      <p:sp>
        <p:nvSpPr>
          <p:cNvPr id="30" name="직사각형 29"/>
          <p:cNvSpPr/>
          <p:nvPr/>
        </p:nvSpPr>
        <p:spPr>
          <a:xfrm>
            <a:off x="141323" y="3618955"/>
            <a:ext cx="2415885" cy="414318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b="1" dirty="0" err="1" smtClean="0"/>
              <a:t>초전도체</a:t>
            </a:r>
            <a:r>
              <a:rPr lang="ko-KR" altLang="en-US" b="1" dirty="0" smtClean="0"/>
              <a:t> </a:t>
            </a:r>
            <a:r>
              <a:rPr lang="en-US" altLang="ko-KR" b="1" dirty="0" smtClean="0"/>
              <a:t>(</a:t>
            </a:r>
            <a:r>
              <a:rPr lang="ko-KR" altLang="en-US" b="1" dirty="0" smtClean="0"/>
              <a:t>알루미늄</a:t>
            </a:r>
            <a:r>
              <a:rPr lang="en-US" altLang="ko-KR" b="1" dirty="0" smtClean="0"/>
              <a:t>)</a:t>
            </a:r>
            <a:endParaRPr lang="ko-KR" altLang="en-US" b="1" dirty="0"/>
          </a:p>
        </p:txBody>
      </p:sp>
      <p:pic>
        <p:nvPicPr>
          <p:cNvPr id="32" name="그림 3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5729" y="4129988"/>
            <a:ext cx="1823305" cy="1462403"/>
          </a:xfrm>
          <a:prstGeom prst="rect">
            <a:avLst/>
          </a:prstGeom>
        </p:spPr>
      </p:pic>
      <p:sp>
        <p:nvSpPr>
          <p:cNvPr id="34" name="TextBox 33"/>
          <p:cNvSpPr txBox="1"/>
          <p:nvPr/>
        </p:nvSpPr>
        <p:spPr>
          <a:xfrm>
            <a:off x="2894612" y="3618955"/>
            <a:ext cx="1624629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fontAlgn="base"/>
            <a:r>
              <a:rPr lang="ko-KR" altLang="en-US" sz="1500" dirty="0" smtClean="0"/>
              <a:t>원자핵 모임</a:t>
            </a:r>
            <a:endParaRPr lang="ko-KR" altLang="en-US" sz="1500" dirty="0"/>
          </a:p>
        </p:txBody>
      </p:sp>
      <p:sp>
        <p:nvSpPr>
          <p:cNvPr id="35" name="TextBox 34"/>
          <p:cNvSpPr txBox="1"/>
          <p:nvPr/>
        </p:nvSpPr>
        <p:spPr>
          <a:xfrm>
            <a:off x="2827204" y="187308"/>
            <a:ext cx="1624629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fontAlgn="base"/>
            <a:r>
              <a:rPr lang="ko-KR" altLang="en-US" sz="1500" dirty="0" smtClean="0"/>
              <a:t>원자핵 불규칙</a:t>
            </a:r>
            <a:endParaRPr lang="ko-KR" altLang="en-US" sz="1500" dirty="0"/>
          </a:p>
        </p:txBody>
      </p:sp>
      <p:sp>
        <p:nvSpPr>
          <p:cNvPr id="36" name="TextBox 35"/>
          <p:cNvSpPr txBox="1"/>
          <p:nvPr/>
        </p:nvSpPr>
        <p:spPr>
          <a:xfrm>
            <a:off x="375452" y="2931462"/>
            <a:ext cx="175358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fontAlgn="base"/>
            <a:r>
              <a:rPr lang="en-US" altLang="ko-KR" b="1" dirty="0" smtClean="0"/>
              <a:t>-273</a:t>
            </a:r>
            <a:r>
              <a:rPr lang="ko-KR" altLang="en-US" b="1" dirty="0" smtClean="0"/>
              <a:t>도 극저온</a:t>
            </a:r>
            <a:endParaRPr lang="ko-KR" altLang="en-US" b="1" dirty="0"/>
          </a:p>
        </p:txBody>
      </p:sp>
      <p:pic>
        <p:nvPicPr>
          <p:cNvPr id="3" name="그림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894612" y="4288186"/>
            <a:ext cx="1900037" cy="958351"/>
          </a:xfrm>
          <a:prstGeom prst="rect">
            <a:avLst/>
          </a:prstGeom>
        </p:spPr>
      </p:pic>
      <p:pic>
        <p:nvPicPr>
          <p:cNvPr id="6" name="그림 5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827204" y="727973"/>
            <a:ext cx="1624629" cy="10148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7631944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직사각형 27"/>
          <p:cNvSpPr/>
          <p:nvPr/>
        </p:nvSpPr>
        <p:spPr>
          <a:xfrm>
            <a:off x="98715" y="84447"/>
            <a:ext cx="2064193" cy="414318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b="1" dirty="0" err="1" smtClean="0"/>
              <a:t>일반금속</a:t>
            </a:r>
            <a:r>
              <a:rPr lang="ko-KR" altLang="en-US" b="1" dirty="0" smtClean="0"/>
              <a:t> </a:t>
            </a:r>
            <a:r>
              <a:rPr lang="en-US" altLang="ko-KR" b="1" dirty="0" smtClean="0"/>
              <a:t>(</a:t>
            </a:r>
            <a:r>
              <a:rPr lang="ko-KR" altLang="en-US" b="1" dirty="0" smtClean="0"/>
              <a:t>구리</a:t>
            </a:r>
            <a:r>
              <a:rPr lang="en-US" altLang="ko-KR" b="1" dirty="0" smtClean="0"/>
              <a:t>)</a:t>
            </a:r>
            <a:endParaRPr lang="ko-KR" altLang="en-US" b="1" dirty="0"/>
          </a:p>
        </p:txBody>
      </p:sp>
      <p:pic>
        <p:nvPicPr>
          <p:cNvPr id="31" name="그림 3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5729" y="595480"/>
            <a:ext cx="2064951" cy="1855726"/>
          </a:xfrm>
          <a:prstGeom prst="rect">
            <a:avLst/>
          </a:prstGeom>
        </p:spPr>
      </p:pic>
      <p:sp>
        <p:nvSpPr>
          <p:cNvPr id="30" name="직사각형 29"/>
          <p:cNvSpPr/>
          <p:nvPr/>
        </p:nvSpPr>
        <p:spPr>
          <a:xfrm>
            <a:off x="141323" y="3618955"/>
            <a:ext cx="2415885" cy="414318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b="1" dirty="0" err="1" smtClean="0"/>
              <a:t>초전도체</a:t>
            </a:r>
            <a:r>
              <a:rPr lang="ko-KR" altLang="en-US" b="1" dirty="0" smtClean="0"/>
              <a:t> </a:t>
            </a:r>
            <a:r>
              <a:rPr lang="en-US" altLang="ko-KR" b="1" dirty="0" smtClean="0"/>
              <a:t>(</a:t>
            </a:r>
            <a:r>
              <a:rPr lang="ko-KR" altLang="en-US" b="1" dirty="0" smtClean="0"/>
              <a:t>알루미늄</a:t>
            </a:r>
            <a:r>
              <a:rPr lang="en-US" altLang="ko-KR" b="1" dirty="0" smtClean="0"/>
              <a:t>)</a:t>
            </a:r>
            <a:endParaRPr lang="ko-KR" altLang="en-US" b="1" dirty="0"/>
          </a:p>
        </p:txBody>
      </p:sp>
      <p:pic>
        <p:nvPicPr>
          <p:cNvPr id="32" name="그림 3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5729" y="4129988"/>
            <a:ext cx="1823305" cy="1462403"/>
          </a:xfrm>
          <a:prstGeom prst="rect">
            <a:avLst/>
          </a:prstGeom>
        </p:spPr>
      </p:pic>
      <p:sp>
        <p:nvSpPr>
          <p:cNvPr id="33" name="TextBox 32"/>
          <p:cNvSpPr txBox="1"/>
          <p:nvPr/>
        </p:nvSpPr>
        <p:spPr>
          <a:xfrm>
            <a:off x="5171822" y="3618954"/>
            <a:ext cx="1809266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fontAlgn="base"/>
            <a:r>
              <a:rPr lang="ko-KR" altLang="en-US" sz="1500" smtClean="0"/>
              <a:t>쿠퍼 전자쌍 형성</a:t>
            </a:r>
            <a:endParaRPr lang="ko-KR" altLang="en-US" sz="1500" dirty="0"/>
          </a:p>
        </p:txBody>
      </p:sp>
      <p:sp>
        <p:nvSpPr>
          <p:cNvPr id="34" name="TextBox 33"/>
          <p:cNvSpPr txBox="1"/>
          <p:nvPr/>
        </p:nvSpPr>
        <p:spPr>
          <a:xfrm>
            <a:off x="2894612" y="3618955"/>
            <a:ext cx="1624629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fontAlgn="base"/>
            <a:r>
              <a:rPr lang="ko-KR" altLang="en-US" sz="1500" dirty="0" smtClean="0"/>
              <a:t>원자핵 모임</a:t>
            </a:r>
            <a:endParaRPr lang="ko-KR" altLang="en-US" sz="1500" dirty="0"/>
          </a:p>
        </p:txBody>
      </p:sp>
      <p:sp>
        <p:nvSpPr>
          <p:cNvPr id="35" name="TextBox 34"/>
          <p:cNvSpPr txBox="1"/>
          <p:nvPr/>
        </p:nvSpPr>
        <p:spPr>
          <a:xfrm>
            <a:off x="2827204" y="187308"/>
            <a:ext cx="1624629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fontAlgn="base"/>
            <a:r>
              <a:rPr lang="ko-KR" altLang="en-US" sz="1500" dirty="0" smtClean="0"/>
              <a:t>원자핵 불규칙</a:t>
            </a:r>
            <a:endParaRPr lang="ko-KR" altLang="en-US" sz="1500" dirty="0"/>
          </a:p>
        </p:txBody>
      </p:sp>
      <p:sp>
        <p:nvSpPr>
          <p:cNvPr id="36" name="TextBox 35"/>
          <p:cNvSpPr txBox="1"/>
          <p:nvPr/>
        </p:nvSpPr>
        <p:spPr>
          <a:xfrm>
            <a:off x="375452" y="2931462"/>
            <a:ext cx="175358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fontAlgn="base"/>
            <a:r>
              <a:rPr lang="en-US" altLang="ko-KR" b="1" dirty="0" smtClean="0"/>
              <a:t>-273</a:t>
            </a:r>
            <a:r>
              <a:rPr lang="ko-KR" altLang="en-US" b="1" dirty="0" smtClean="0"/>
              <a:t>도 극저온</a:t>
            </a:r>
            <a:endParaRPr lang="ko-KR" altLang="en-US" b="1" dirty="0"/>
          </a:p>
        </p:txBody>
      </p:sp>
      <p:sp>
        <p:nvSpPr>
          <p:cNvPr id="39" name="TextBox 38"/>
          <p:cNvSpPr txBox="1"/>
          <p:nvPr/>
        </p:nvSpPr>
        <p:spPr>
          <a:xfrm>
            <a:off x="5307376" y="187308"/>
            <a:ext cx="1463435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fontAlgn="base"/>
            <a:r>
              <a:rPr lang="ko-KR" altLang="en-US" sz="1500" dirty="0" err="1" smtClean="0"/>
              <a:t>홀전자</a:t>
            </a:r>
            <a:r>
              <a:rPr lang="ko-KR" altLang="en-US" sz="1500" dirty="0" smtClean="0"/>
              <a:t> 유지</a:t>
            </a:r>
            <a:endParaRPr lang="ko-KR" altLang="en-US" sz="1500" dirty="0"/>
          </a:p>
        </p:txBody>
      </p:sp>
      <p:pic>
        <p:nvPicPr>
          <p:cNvPr id="2" name="그림 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41435" y="666303"/>
            <a:ext cx="1469705" cy="1567957"/>
          </a:xfrm>
          <a:prstGeom prst="rect">
            <a:avLst/>
          </a:prstGeom>
        </p:spPr>
      </p:pic>
      <p:pic>
        <p:nvPicPr>
          <p:cNvPr id="3" name="그림 2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894612" y="4288186"/>
            <a:ext cx="1900037" cy="958351"/>
          </a:xfrm>
          <a:prstGeom prst="rect">
            <a:avLst/>
          </a:prstGeom>
        </p:spPr>
      </p:pic>
      <p:pic>
        <p:nvPicPr>
          <p:cNvPr id="6" name="그림 5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827204" y="727973"/>
            <a:ext cx="1624629" cy="1014804"/>
          </a:xfrm>
          <a:prstGeom prst="rect">
            <a:avLst/>
          </a:prstGeom>
        </p:spPr>
      </p:pic>
      <p:pic>
        <p:nvPicPr>
          <p:cNvPr id="45" name="그림 44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307376" y="4417756"/>
            <a:ext cx="1538157" cy="8868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8124831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직사각형 27"/>
          <p:cNvSpPr/>
          <p:nvPr/>
        </p:nvSpPr>
        <p:spPr>
          <a:xfrm>
            <a:off x="98715" y="84447"/>
            <a:ext cx="2064193" cy="414318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b="1" dirty="0" err="1" smtClean="0"/>
              <a:t>일반금속</a:t>
            </a:r>
            <a:r>
              <a:rPr lang="ko-KR" altLang="en-US" b="1" dirty="0" smtClean="0"/>
              <a:t> </a:t>
            </a:r>
            <a:r>
              <a:rPr lang="en-US" altLang="ko-KR" b="1" dirty="0" smtClean="0"/>
              <a:t>(</a:t>
            </a:r>
            <a:r>
              <a:rPr lang="ko-KR" altLang="en-US" b="1" dirty="0" smtClean="0"/>
              <a:t>구리</a:t>
            </a:r>
            <a:r>
              <a:rPr lang="en-US" altLang="ko-KR" b="1" dirty="0" smtClean="0"/>
              <a:t>)</a:t>
            </a:r>
            <a:endParaRPr lang="ko-KR" altLang="en-US" b="1" dirty="0"/>
          </a:p>
        </p:txBody>
      </p:sp>
      <p:pic>
        <p:nvPicPr>
          <p:cNvPr id="31" name="그림 3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5729" y="595480"/>
            <a:ext cx="2064951" cy="1855726"/>
          </a:xfrm>
          <a:prstGeom prst="rect">
            <a:avLst/>
          </a:prstGeom>
        </p:spPr>
      </p:pic>
      <p:sp>
        <p:nvSpPr>
          <p:cNvPr id="30" name="직사각형 29"/>
          <p:cNvSpPr/>
          <p:nvPr/>
        </p:nvSpPr>
        <p:spPr>
          <a:xfrm>
            <a:off x="141323" y="3618955"/>
            <a:ext cx="2415885" cy="414318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b="1" dirty="0" err="1" smtClean="0"/>
              <a:t>초전도체</a:t>
            </a:r>
            <a:r>
              <a:rPr lang="ko-KR" altLang="en-US" b="1" dirty="0" smtClean="0"/>
              <a:t> </a:t>
            </a:r>
            <a:r>
              <a:rPr lang="en-US" altLang="ko-KR" b="1" dirty="0" smtClean="0"/>
              <a:t>(</a:t>
            </a:r>
            <a:r>
              <a:rPr lang="ko-KR" altLang="en-US" b="1" dirty="0" smtClean="0"/>
              <a:t>알루미늄</a:t>
            </a:r>
            <a:r>
              <a:rPr lang="en-US" altLang="ko-KR" b="1" dirty="0" smtClean="0"/>
              <a:t>)</a:t>
            </a:r>
            <a:endParaRPr lang="ko-KR" altLang="en-US" b="1" dirty="0"/>
          </a:p>
        </p:txBody>
      </p:sp>
      <p:pic>
        <p:nvPicPr>
          <p:cNvPr id="32" name="그림 3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5729" y="4129988"/>
            <a:ext cx="1823305" cy="1462403"/>
          </a:xfrm>
          <a:prstGeom prst="rect">
            <a:avLst/>
          </a:prstGeom>
        </p:spPr>
      </p:pic>
      <p:sp>
        <p:nvSpPr>
          <p:cNvPr id="33" name="TextBox 32"/>
          <p:cNvSpPr txBox="1"/>
          <p:nvPr/>
        </p:nvSpPr>
        <p:spPr>
          <a:xfrm>
            <a:off x="5171822" y="3618954"/>
            <a:ext cx="1809266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fontAlgn="base"/>
            <a:r>
              <a:rPr lang="ko-KR" altLang="en-US" sz="1500" smtClean="0"/>
              <a:t>쿠퍼 전자쌍 형성</a:t>
            </a:r>
            <a:endParaRPr lang="ko-KR" altLang="en-US" sz="1500" dirty="0"/>
          </a:p>
        </p:txBody>
      </p:sp>
      <p:sp>
        <p:nvSpPr>
          <p:cNvPr id="34" name="TextBox 33"/>
          <p:cNvSpPr txBox="1"/>
          <p:nvPr/>
        </p:nvSpPr>
        <p:spPr>
          <a:xfrm>
            <a:off x="2894612" y="3618955"/>
            <a:ext cx="1624629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fontAlgn="base"/>
            <a:r>
              <a:rPr lang="ko-KR" altLang="en-US" sz="1500" dirty="0" smtClean="0"/>
              <a:t>원자핵 모임</a:t>
            </a:r>
            <a:endParaRPr lang="ko-KR" altLang="en-US" sz="1500" dirty="0"/>
          </a:p>
        </p:txBody>
      </p:sp>
      <p:sp>
        <p:nvSpPr>
          <p:cNvPr id="35" name="TextBox 34"/>
          <p:cNvSpPr txBox="1"/>
          <p:nvPr/>
        </p:nvSpPr>
        <p:spPr>
          <a:xfrm>
            <a:off x="2827204" y="187308"/>
            <a:ext cx="1624629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fontAlgn="base"/>
            <a:r>
              <a:rPr lang="ko-KR" altLang="en-US" sz="1500" dirty="0" smtClean="0"/>
              <a:t>원자핵 불규칙</a:t>
            </a:r>
            <a:endParaRPr lang="ko-KR" altLang="en-US" sz="1500" dirty="0"/>
          </a:p>
        </p:txBody>
      </p:sp>
      <p:sp>
        <p:nvSpPr>
          <p:cNvPr id="36" name="TextBox 35"/>
          <p:cNvSpPr txBox="1"/>
          <p:nvPr/>
        </p:nvSpPr>
        <p:spPr>
          <a:xfrm>
            <a:off x="375452" y="2931462"/>
            <a:ext cx="175358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fontAlgn="base"/>
            <a:r>
              <a:rPr lang="en-US" altLang="ko-KR" b="1" dirty="0" smtClean="0"/>
              <a:t>-273</a:t>
            </a:r>
            <a:r>
              <a:rPr lang="ko-KR" altLang="en-US" b="1" dirty="0" smtClean="0"/>
              <a:t>도 극저온</a:t>
            </a:r>
            <a:endParaRPr lang="ko-KR" altLang="en-US" b="1" dirty="0"/>
          </a:p>
        </p:txBody>
      </p:sp>
      <p:sp>
        <p:nvSpPr>
          <p:cNvPr id="39" name="TextBox 38"/>
          <p:cNvSpPr txBox="1"/>
          <p:nvPr/>
        </p:nvSpPr>
        <p:spPr>
          <a:xfrm>
            <a:off x="5307376" y="187308"/>
            <a:ext cx="1463435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fontAlgn="base"/>
            <a:r>
              <a:rPr lang="ko-KR" altLang="en-US" sz="1500" dirty="0" err="1" smtClean="0"/>
              <a:t>홀전자</a:t>
            </a:r>
            <a:r>
              <a:rPr lang="ko-KR" altLang="en-US" sz="1500" dirty="0" smtClean="0"/>
              <a:t> 유지</a:t>
            </a:r>
            <a:endParaRPr lang="ko-KR" altLang="en-US" sz="1500" dirty="0"/>
          </a:p>
        </p:txBody>
      </p:sp>
      <p:sp>
        <p:nvSpPr>
          <p:cNvPr id="41" name="TextBox 40"/>
          <p:cNvSpPr txBox="1"/>
          <p:nvPr/>
        </p:nvSpPr>
        <p:spPr>
          <a:xfrm>
            <a:off x="7478337" y="3618954"/>
            <a:ext cx="1437058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fontAlgn="base"/>
            <a:r>
              <a:rPr lang="ko-KR" altLang="en-US" sz="1500" dirty="0" smtClean="0"/>
              <a:t>부드러운 흐름</a:t>
            </a:r>
            <a:endParaRPr lang="ko-KR" altLang="en-US" sz="1500" dirty="0"/>
          </a:p>
        </p:txBody>
      </p:sp>
      <p:sp>
        <p:nvSpPr>
          <p:cNvPr id="42" name="TextBox 41"/>
          <p:cNvSpPr txBox="1"/>
          <p:nvPr/>
        </p:nvSpPr>
        <p:spPr>
          <a:xfrm>
            <a:off x="7174762" y="171916"/>
            <a:ext cx="1809266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fontAlgn="base"/>
            <a:r>
              <a:rPr lang="ko-KR" altLang="en-US" sz="1500" dirty="0" smtClean="0"/>
              <a:t>딱딱한 혼란</a:t>
            </a:r>
            <a:endParaRPr lang="ko-KR" altLang="en-US" sz="1500" dirty="0"/>
          </a:p>
        </p:txBody>
      </p:sp>
      <p:pic>
        <p:nvPicPr>
          <p:cNvPr id="2" name="그림 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41435" y="666303"/>
            <a:ext cx="1469705" cy="1567957"/>
          </a:xfrm>
          <a:prstGeom prst="rect">
            <a:avLst/>
          </a:prstGeom>
        </p:spPr>
      </p:pic>
      <p:pic>
        <p:nvPicPr>
          <p:cNvPr id="3" name="그림 2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894612" y="4288186"/>
            <a:ext cx="1900037" cy="958351"/>
          </a:xfrm>
          <a:prstGeom prst="rect">
            <a:avLst/>
          </a:prstGeom>
        </p:spPr>
      </p:pic>
      <p:pic>
        <p:nvPicPr>
          <p:cNvPr id="4" name="그림 3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478337" y="4129988"/>
            <a:ext cx="3011384" cy="1558094"/>
          </a:xfrm>
          <a:prstGeom prst="rect">
            <a:avLst/>
          </a:prstGeom>
        </p:spPr>
      </p:pic>
      <p:pic>
        <p:nvPicPr>
          <p:cNvPr id="6" name="그림 5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827204" y="727973"/>
            <a:ext cx="1624629" cy="1014804"/>
          </a:xfrm>
          <a:prstGeom prst="rect">
            <a:avLst/>
          </a:prstGeom>
        </p:spPr>
      </p:pic>
      <p:pic>
        <p:nvPicPr>
          <p:cNvPr id="45" name="그림 44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307376" y="4417756"/>
            <a:ext cx="1538157" cy="886865"/>
          </a:xfrm>
          <a:prstGeom prst="rect">
            <a:avLst/>
          </a:prstGeom>
        </p:spPr>
      </p:pic>
      <p:pic>
        <p:nvPicPr>
          <p:cNvPr id="7" name="그림 6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271007" y="510473"/>
            <a:ext cx="2899536" cy="1879618"/>
          </a:xfrm>
          <a:prstGeom prst="rect">
            <a:avLst/>
          </a:prstGeom>
        </p:spPr>
      </p:pic>
      <p:sp>
        <p:nvSpPr>
          <p:cNvPr id="46" name="오른쪽 화살표 45"/>
          <p:cNvSpPr/>
          <p:nvPr/>
        </p:nvSpPr>
        <p:spPr>
          <a:xfrm rot="10800000">
            <a:off x="7615677" y="5035937"/>
            <a:ext cx="2736702" cy="251843"/>
          </a:xfrm>
          <a:prstGeom prst="rightArrow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9" name="오른쪽 화살표 48"/>
          <p:cNvSpPr/>
          <p:nvPr/>
        </p:nvSpPr>
        <p:spPr>
          <a:xfrm rot="8467233" flipV="1">
            <a:off x="9279011" y="1213784"/>
            <a:ext cx="403362" cy="205758"/>
          </a:xfrm>
          <a:prstGeom prst="rightArrow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0" name="오른쪽 화살표 49"/>
          <p:cNvSpPr/>
          <p:nvPr/>
        </p:nvSpPr>
        <p:spPr>
          <a:xfrm rot="14313789" flipV="1">
            <a:off x="8087040" y="1795173"/>
            <a:ext cx="403362" cy="205758"/>
          </a:xfrm>
          <a:prstGeom prst="rightArrow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1" name="오른쪽 화살표 50"/>
          <p:cNvSpPr/>
          <p:nvPr/>
        </p:nvSpPr>
        <p:spPr>
          <a:xfrm rot="17750663" flipV="1">
            <a:off x="8854083" y="1032710"/>
            <a:ext cx="403362" cy="205758"/>
          </a:xfrm>
          <a:prstGeom prst="rightArrow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6" name="오른쪽 화살표 25"/>
          <p:cNvSpPr/>
          <p:nvPr/>
        </p:nvSpPr>
        <p:spPr>
          <a:xfrm rot="10800000">
            <a:off x="7615677" y="4635635"/>
            <a:ext cx="2736702" cy="251843"/>
          </a:xfrm>
          <a:prstGeom prst="rightArrow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3722726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직사각형 27"/>
          <p:cNvSpPr/>
          <p:nvPr/>
        </p:nvSpPr>
        <p:spPr>
          <a:xfrm>
            <a:off x="98715" y="84447"/>
            <a:ext cx="2064193" cy="414318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b="1" dirty="0" err="1" smtClean="0"/>
              <a:t>일반금속</a:t>
            </a:r>
            <a:r>
              <a:rPr lang="ko-KR" altLang="en-US" b="1" dirty="0" smtClean="0"/>
              <a:t> </a:t>
            </a:r>
            <a:r>
              <a:rPr lang="en-US" altLang="ko-KR" b="1" dirty="0" smtClean="0"/>
              <a:t>(</a:t>
            </a:r>
            <a:r>
              <a:rPr lang="ko-KR" altLang="en-US" b="1" dirty="0" smtClean="0"/>
              <a:t>구리</a:t>
            </a:r>
            <a:r>
              <a:rPr lang="en-US" altLang="ko-KR" b="1" dirty="0" smtClean="0"/>
              <a:t>)</a:t>
            </a:r>
            <a:endParaRPr lang="ko-KR" altLang="en-US" b="1" dirty="0"/>
          </a:p>
        </p:txBody>
      </p:sp>
      <p:pic>
        <p:nvPicPr>
          <p:cNvPr id="31" name="그림 3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5729" y="595480"/>
            <a:ext cx="2064951" cy="1855726"/>
          </a:xfrm>
          <a:prstGeom prst="rect">
            <a:avLst/>
          </a:prstGeom>
        </p:spPr>
      </p:pic>
      <p:sp>
        <p:nvSpPr>
          <p:cNvPr id="30" name="직사각형 29"/>
          <p:cNvSpPr/>
          <p:nvPr/>
        </p:nvSpPr>
        <p:spPr>
          <a:xfrm>
            <a:off x="141323" y="3618955"/>
            <a:ext cx="2415885" cy="414318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b="1" dirty="0" err="1" smtClean="0"/>
              <a:t>초전도체</a:t>
            </a:r>
            <a:r>
              <a:rPr lang="ko-KR" altLang="en-US" b="1" dirty="0" smtClean="0"/>
              <a:t> </a:t>
            </a:r>
            <a:r>
              <a:rPr lang="en-US" altLang="ko-KR" b="1" dirty="0" smtClean="0"/>
              <a:t>(</a:t>
            </a:r>
            <a:r>
              <a:rPr lang="ko-KR" altLang="en-US" b="1" dirty="0" smtClean="0"/>
              <a:t>알루미늄</a:t>
            </a:r>
            <a:r>
              <a:rPr lang="en-US" altLang="ko-KR" b="1" dirty="0" smtClean="0"/>
              <a:t>)</a:t>
            </a:r>
            <a:endParaRPr lang="ko-KR" altLang="en-US" b="1" dirty="0"/>
          </a:p>
        </p:txBody>
      </p:sp>
      <p:pic>
        <p:nvPicPr>
          <p:cNvPr id="32" name="그림 3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5729" y="4129988"/>
            <a:ext cx="1823305" cy="1462403"/>
          </a:xfrm>
          <a:prstGeom prst="rect">
            <a:avLst/>
          </a:prstGeom>
        </p:spPr>
      </p:pic>
      <p:sp>
        <p:nvSpPr>
          <p:cNvPr id="33" name="TextBox 32"/>
          <p:cNvSpPr txBox="1"/>
          <p:nvPr/>
        </p:nvSpPr>
        <p:spPr>
          <a:xfrm>
            <a:off x="5171822" y="3618954"/>
            <a:ext cx="1809266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fontAlgn="base"/>
            <a:r>
              <a:rPr lang="ko-KR" altLang="en-US" sz="1500" smtClean="0"/>
              <a:t>쿠퍼 전자쌍 형성</a:t>
            </a:r>
            <a:endParaRPr lang="ko-KR" altLang="en-US" sz="1500" dirty="0"/>
          </a:p>
        </p:txBody>
      </p:sp>
      <p:sp>
        <p:nvSpPr>
          <p:cNvPr id="34" name="TextBox 33"/>
          <p:cNvSpPr txBox="1"/>
          <p:nvPr/>
        </p:nvSpPr>
        <p:spPr>
          <a:xfrm>
            <a:off x="2894612" y="3618955"/>
            <a:ext cx="1624629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fontAlgn="base"/>
            <a:r>
              <a:rPr lang="ko-KR" altLang="en-US" sz="1500" dirty="0" smtClean="0"/>
              <a:t>원자핵 모임</a:t>
            </a:r>
            <a:endParaRPr lang="ko-KR" altLang="en-US" sz="1500" dirty="0"/>
          </a:p>
        </p:txBody>
      </p:sp>
      <p:sp>
        <p:nvSpPr>
          <p:cNvPr id="35" name="TextBox 34"/>
          <p:cNvSpPr txBox="1"/>
          <p:nvPr/>
        </p:nvSpPr>
        <p:spPr>
          <a:xfrm>
            <a:off x="2827204" y="187308"/>
            <a:ext cx="1624629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fontAlgn="base"/>
            <a:r>
              <a:rPr lang="ko-KR" altLang="en-US" sz="1500" dirty="0" smtClean="0"/>
              <a:t>원자핵 불규칙</a:t>
            </a:r>
            <a:endParaRPr lang="ko-KR" altLang="en-US" sz="1500" dirty="0"/>
          </a:p>
        </p:txBody>
      </p:sp>
      <p:sp>
        <p:nvSpPr>
          <p:cNvPr id="36" name="TextBox 35"/>
          <p:cNvSpPr txBox="1"/>
          <p:nvPr/>
        </p:nvSpPr>
        <p:spPr>
          <a:xfrm>
            <a:off x="375452" y="2931462"/>
            <a:ext cx="175358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fontAlgn="base"/>
            <a:r>
              <a:rPr lang="en-US" altLang="ko-KR" b="1" dirty="0" smtClean="0"/>
              <a:t>-273</a:t>
            </a:r>
            <a:r>
              <a:rPr lang="ko-KR" altLang="en-US" b="1" dirty="0" smtClean="0"/>
              <a:t>도 극저온</a:t>
            </a:r>
            <a:endParaRPr lang="ko-KR" altLang="en-US" b="1" dirty="0"/>
          </a:p>
        </p:txBody>
      </p:sp>
      <p:sp>
        <p:nvSpPr>
          <p:cNvPr id="39" name="TextBox 38"/>
          <p:cNvSpPr txBox="1"/>
          <p:nvPr/>
        </p:nvSpPr>
        <p:spPr>
          <a:xfrm>
            <a:off x="5307376" y="187308"/>
            <a:ext cx="1463435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fontAlgn="base"/>
            <a:r>
              <a:rPr lang="ko-KR" altLang="en-US" sz="1500" dirty="0" err="1" smtClean="0"/>
              <a:t>홀전자</a:t>
            </a:r>
            <a:r>
              <a:rPr lang="ko-KR" altLang="en-US" sz="1500" dirty="0" smtClean="0"/>
              <a:t> 유지</a:t>
            </a:r>
            <a:endParaRPr lang="ko-KR" altLang="en-US" sz="1500" dirty="0"/>
          </a:p>
        </p:txBody>
      </p:sp>
      <p:pic>
        <p:nvPicPr>
          <p:cNvPr id="40" name="그림 39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59348" y="2491632"/>
            <a:ext cx="1834263" cy="1536815"/>
          </a:xfrm>
          <a:prstGeom prst="rect">
            <a:avLst/>
          </a:prstGeom>
        </p:spPr>
      </p:pic>
      <p:sp>
        <p:nvSpPr>
          <p:cNvPr id="41" name="TextBox 40"/>
          <p:cNvSpPr txBox="1"/>
          <p:nvPr/>
        </p:nvSpPr>
        <p:spPr>
          <a:xfrm>
            <a:off x="7478337" y="3618954"/>
            <a:ext cx="1437058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fontAlgn="base"/>
            <a:r>
              <a:rPr lang="ko-KR" altLang="en-US" sz="1500" dirty="0" smtClean="0"/>
              <a:t>부드러운 흐름</a:t>
            </a:r>
            <a:endParaRPr lang="ko-KR" altLang="en-US" sz="1500" dirty="0"/>
          </a:p>
        </p:txBody>
      </p:sp>
      <p:sp>
        <p:nvSpPr>
          <p:cNvPr id="42" name="TextBox 41"/>
          <p:cNvSpPr txBox="1"/>
          <p:nvPr/>
        </p:nvSpPr>
        <p:spPr>
          <a:xfrm>
            <a:off x="7174762" y="171916"/>
            <a:ext cx="1809266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fontAlgn="base"/>
            <a:r>
              <a:rPr lang="ko-KR" altLang="en-US" sz="1500" dirty="0" smtClean="0"/>
              <a:t>딱딱한 혼란</a:t>
            </a:r>
            <a:endParaRPr lang="ko-KR" altLang="en-US" sz="1500" dirty="0"/>
          </a:p>
        </p:txBody>
      </p:sp>
      <p:pic>
        <p:nvPicPr>
          <p:cNvPr id="2" name="그림 1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141435" y="666303"/>
            <a:ext cx="1469705" cy="1567957"/>
          </a:xfrm>
          <a:prstGeom prst="rect">
            <a:avLst/>
          </a:prstGeom>
        </p:spPr>
      </p:pic>
      <p:pic>
        <p:nvPicPr>
          <p:cNvPr id="3" name="그림 2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894612" y="4288186"/>
            <a:ext cx="1900037" cy="958351"/>
          </a:xfrm>
          <a:prstGeom prst="rect">
            <a:avLst/>
          </a:prstGeom>
        </p:spPr>
      </p:pic>
      <p:pic>
        <p:nvPicPr>
          <p:cNvPr id="4" name="그림 3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478337" y="4129988"/>
            <a:ext cx="3011384" cy="1558094"/>
          </a:xfrm>
          <a:prstGeom prst="rect">
            <a:avLst/>
          </a:prstGeom>
        </p:spPr>
      </p:pic>
      <p:pic>
        <p:nvPicPr>
          <p:cNvPr id="6" name="그림 5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827204" y="727973"/>
            <a:ext cx="1624629" cy="1014804"/>
          </a:xfrm>
          <a:prstGeom prst="rect">
            <a:avLst/>
          </a:prstGeom>
        </p:spPr>
      </p:pic>
      <p:pic>
        <p:nvPicPr>
          <p:cNvPr id="45" name="그림 44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307376" y="4417756"/>
            <a:ext cx="1538157" cy="886865"/>
          </a:xfrm>
          <a:prstGeom prst="rect">
            <a:avLst/>
          </a:prstGeom>
        </p:spPr>
      </p:pic>
      <p:pic>
        <p:nvPicPr>
          <p:cNvPr id="7" name="그림 6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7271007" y="510473"/>
            <a:ext cx="2899536" cy="1879618"/>
          </a:xfrm>
          <a:prstGeom prst="rect">
            <a:avLst/>
          </a:prstGeom>
        </p:spPr>
      </p:pic>
      <p:sp>
        <p:nvSpPr>
          <p:cNvPr id="46" name="오른쪽 화살표 45"/>
          <p:cNvSpPr/>
          <p:nvPr/>
        </p:nvSpPr>
        <p:spPr>
          <a:xfrm rot="10800000">
            <a:off x="7615677" y="5035937"/>
            <a:ext cx="2736702" cy="251843"/>
          </a:xfrm>
          <a:prstGeom prst="rightArrow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9" name="오른쪽 화살표 48"/>
          <p:cNvSpPr/>
          <p:nvPr/>
        </p:nvSpPr>
        <p:spPr>
          <a:xfrm rot="8467233" flipV="1">
            <a:off x="9279011" y="1213784"/>
            <a:ext cx="403362" cy="205758"/>
          </a:xfrm>
          <a:prstGeom prst="rightArrow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0" name="오른쪽 화살표 49"/>
          <p:cNvSpPr/>
          <p:nvPr/>
        </p:nvSpPr>
        <p:spPr>
          <a:xfrm rot="14313789" flipV="1">
            <a:off x="8087040" y="1795173"/>
            <a:ext cx="403362" cy="205758"/>
          </a:xfrm>
          <a:prstGeom prst="rightArrow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1" name="오른쪽 화살표 50"/>
          <p:cNvSpPr/>
          <p:nvPr/>
        </p:nvSpPr>
        <p:spPr>
          <a:xfrm rot="17750663" flipV="1">
            <a:off x="8854083" y="1032710"/>
            <a:ext cx="403362" cy="205758"/>
          </a:xfrm>
          <a:prstGeom prst="rightArrow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6" name="오른쪽 화살표 25"/>
          <p:cNvSpPr/>
          <p:nvPr/>
        </p:nvSpPr>
        <p:spPr>
          <a:xfrm rot="10800000">
            <a:off x="7615677" y="4635635"/>
            <a:ext cx="2736702" cy="251843"/>
          </a:xfrm>
          <a:prstGeom prst="rightArrow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3928576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직사각형 31"/>
          <p:cNvSpPr/>
          <p:nvPr/>
        </p:nvSpPr>
        <p:spPr>
          <a:xfrm>
            <a:off x="98715" y="84447"/>
            <a:ext cx="1985062" cy="414318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b="1" dirty="0" smtClean="0"/>
              <a:t>얽힘 </a:t>
            </a:r>
            <a:r>
              <a:rPr lang="en-US" altLang="ko-KR" b="1" dirty="0" smtClean="0"/>
              <a:t>(</a:t>
            </a:r>
            <a:r>
              <a:rPr lang="ko-KR" altLang="en-US" b="1" dirty="0" err="1" smtClean="0"/>
              <a:t>초전도체</a:t>
            </a:r>
            <a:r>
              <a:rPr lang="en-US" altLang="ko-KR" b="1" dirty="0" smtClean="0"/>
              <a:t>)</a:t>
            </a:r>
            <a:endParaRPr lang="ko-KR" altLang="en-US" b="1" dirty="0"/>
          </a:p>
        </p:txBody>
      </p:sp>
      <p:sp>
        <p:nvSpPr>
          <p:cNvPr id="3" name="TextBox 2"/>
          <p:cNvSpPr txBox="1"/>
          <p:nvPr/>
        </p:nvSpPr>
        <p:spPr>
          <a:xfrm>
            <a:off x="2323117" y="2360023"/>
            <a:ext cx="2536097" cy="7848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fontAlgn="base"/>
            <a:r>
              <a:rPr lang="ko-KR" altLang="en-US" sz="1500" dirty="0" err="1" smtClean="0"/>
              <a:t>퀀텀점프</a:t>
            </a:r>
            <a:endParaRPr lang="en-US" altLang="ko-KR" sz="1500" dirty="0" smtClean="0"/>
          </a:p>
          <a:p>
            <a:pPr fontAlgn="base"/>
            <a:endParaRPr lang="en-US" altLang="ko-KR" sz="1500" dirty="0"/>
          </a:p>
          <a:p>
            <a:pPr fontAlgn="base"/>
            <a:r>
              <a:rPr lang="ko-KR" altLang="en-US" sz="1500" dirty="0" smtClean="0"/>
              <a:t>공개키 </a:t>
            </a:r>
            <a:r>
              <a:rPr lang="ko-KR" altLang="en-US" sz="1500" dirty="0" err="1" smtClean="0"/>
              <a:t>수집중</a:t>
            </a:r>
            <a:endParaRPr lang="ko-KR" altLang="en-US" sz="1500" dirty="0"/>
          </a:p>
        </p:txBody>
      </p:sp>
      <p:pic>
        <p:nvPicPr>
          <p:cNvPr id="2" name="그림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91000" y="2347912"/>
            <a:ext cx="3810000" cy="21621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013298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6554</TotalTime>
  <Words>368</Words>
  <Application>Microsoft Office PowerPoint</Application>
  <PresentationFormat>와이드스크린</PresentationFormat>
  <Paragraphs>148</Paragraphs>
  <Slides>30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30</vt:i4>
      </vt:variant>
    </vt:vector>
  </HeadingPairs>
  <TitlesOfParts>
    <vt:vector size="33" baseType="lpstr">
      <vt:lpstr>맑은 고딕</vt:lpstr>
      <vt:lpstr>Arial</vt:lpstr>
      <vt:lpstr>Office 테마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Administrator</dc:creator>
  <cp:lastModifiedBy>Administrator</cp:lastModifiedBy>
  <cp:revision>242</cp:revision>
  <dcterms:created xsi:type="dcterms:W3CDTF">2025-12-25T13:00:27Z</dcterms:created>
  <dcterms:modified xsi:type="dcterms:W3CDTF">2026-04-13T21:41:08Z</dcterms:modified>
</cp:coreProperties>
</file>